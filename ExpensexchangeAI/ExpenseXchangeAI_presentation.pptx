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42875"/>
            <a:ext cx="1885950" cy="3905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06240" y="2692971"/>
            <a:ext cx="3666490" cy="94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6AEF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AEF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AEF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AEF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3692" y="869949"/>
            <a:ext cx="1152461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6AEF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700" y="1971992"/>
            <a:ext cx="6526530" cy="430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10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ankEnigmo/expensxchange_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250" y="1983168"/>
            <a:ext cx="676211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000000"/>
                </a:solidFill>
              </a:rPr>
              <a:t>EXPENSEXCHANGE</a:t>
            </a:r>
            <a:r>
              <a:rPr sz="4800" spc="-280" dirty="0">
                <a:solidFill>
                  <a:srgbClr val="000000"/>
                </a:solidFill>
              </a:rPr>
              <a:t> </a:t>
            </a:r>
            <a:r>
              <a:rPr sz="4800" spc="-25" dirty="0">
                <a:solidFill>
                  <a:srgbClr val="000000"/>
                </a:solidFill>
              </a:rPr>
              <a:t>AI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2000250" y="3162358"/>
            <a:ext cx="8191500" cy="57150"/>
            <a:chOff x="2000250" y="3162358"/>
            <a:chExt cx="8191500" cy="57150"/>
          </a:xfrm>
        </p:grpSpPr>
        <p:sp>
          <p:nvSpPr>
            <p:cNvPr id="4" name="object 4"/>
            <p:cNvSpPr/>
            <p:nvPr/>
          </p:nvSpPr>
          <p:spPr>
            <a:xfrm>
              <a:off x="2000250" y="3162358"/>
              <a:ext cx="2066925" cy="57150"/>
            </a:xfrm>
            <a:custGeom>
              <a:avLst/>
              <a:gdLst/>
              <a:ahLst/>
              <a:cxnLst/>
              <a:rect l="l" t="t" r="r" b="b"/>
              <a:pathLst>
                <a:path w="2066925" h="57150">
                  <a:moveTo>
                    <a:pt x="2066671" y="0"/>
                  </a:moveTo>
                  <a:lnTo>
                    <a:pt x="0" y="0"/>
                  </a:lnTo>
                  <a:lnTo>
                    <a:pt x="0" y="56837"/>
                  </a:lnTo>
                  <a:lnTo>
                    <a:pt x="2066671" y="56837"/>
                  </a:lnTo>
                  <a:lnTo>
                    <a:pt x="2066671" y="0"/>
                  </a:lnTo>
                  <a:close/>
                </a:path>
              </a:pathLst>
            </a:custGeom>
            <a:solidFill>
              <a:srgbClr val="2A80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7175" y="3162358"/>
              <a:ext cx="2066925" cy="57150"/>
            </a:xfrm>
            <a:custGeom>
              <a:avLst/>
              <a:gdLst/>
              <a:ahLst/>
              <a:cxnLst/>
              <a:rect l="l" t="t" r="r" b="b"/>
              <a:pathLst>
                <a:path w="2066925" h="57150">
                  <a:moveTo>
                    <a:pt x="2066671" y="0"/>
                  </a:moveTo>
                  <a:lnTo>
                    <a:pt x="0" y="0"/>
                  </a:lnTo>
                  <a:lnTo>
                    <a:pt x="0" y="56837"/>
                  </a:lnTo>
                  <a:lnTo>
                    <a:pt x="2066671" y="56837"/>
                  </a:lnTo>
                  <a:lnTo>
                    <a:pt x="2066671" y="0"/>
                  </a:lnTo>
                  <a:close/>
                </a:path>
              </a:pathLst>
            </a:custGeom>
            <a:solidFill>
              <a:srgbClr val="F39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34100" y="3162358"/>
              <a:ext cx="2057400" cy="57150"/>
            </a:xfrm>
            <a:custGeom>
              <a:avLst/>
              <a:gdLst/>
              <a:ahLst/>
              <a:cxnLst/>
              <a:rect l="l" t="t" r="r" b="b"/>
              <a:pathLst>
                <a:path w="2057400" h="57150">
                  <a:moveTo>
                    <a:pt x="2057146" y="0"/>
                  </a:moveTo>
                  <a:lnTo>
                    <a:pt x="0" y="0"/>
                  </a:lnTo>
                  <a:lnTo>
                    <a:pt x="0" y="56837"/>
                  </a:lnTo>
                  <a:lnTo>
                    <a:pt x="2057146" y="56837"/>
                  </a:lnTo>
                  <a:lnTo>
                    <a:pt x="2057146" y="0"/>
                  </a:lnTo>
                  <a:close/>
                </a:path>
              </a:pathLst>
            </a:custGeom>
            <a:solidFill>
              <a:srgbClr val="92B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91500" y="3162358"/>
              <a:ext cx="2000250" cy="57150"/>
            </a:xfrm>
            <a:custGeom>
              <a:avLst/>
              <a:gdLst/>
              <a:ahLst/>
              <a:cxnLst/>
              <a:rect l="l" t="t" r="r" b="b"/>
              <a:pathLst>
                <a:path w="2000250" h="57150">
                  <a:moveTo>
                    <a:pt x="2000123" y="0"/>
                  </a:moveTo>
                  <a:lnTo>
                    <a:pt x="0" y="0"/>
                  </a:lnTo>
                  <a:lnTo>
                    <a:pt x="0" y="56837"/>
                  </a:lnTo>
                  <a:lnTo>
                    <a:pt x="2000123" y="56837"/>
                  </a:lnTo>
                  <a:lnTo>
                    <a:pt x="2000123" y="0"/>
                  </a:lnTo>
                  <a:close/>
                </a:path>
              </a:pathLst>
            </a:custGeom>
            <a:solidFill>
              <a:srgbClr val="C1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8475" y="161925"/>
            <a:ext cx="1400175" cy="3238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171450"/>
            <a:ext cx="2066925" cy="4381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331964" y="3867530"/>
            <a:ext cx="4085590" cy="147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95" dirty="0">
                <a:latin typeface="Times New Roman"/>
                <a:cs typeface="Times New Roman"/>
              </a:rPr>
              <a:t>Team</a:t>
            </a:r>
            <a:r>
              <a:rPr sz="2400" b="1" spc="-1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Members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130"/>
              </a:lnSpc>
              <a:spcBef>
                <a:spcPts val="45"/>
              </a:spcBef>
              <a:buAutoNum type="arabicPeriod"/>
              <a:tabLst>
                <a:tab pos="355600" algn="l"/>
              </a:tabLst>
            </a:pPr>
            <a:r>
              <a:rPr sz="1800" spc="-20" dirty="0">
                <a:latin typeface="Times New Roman"/>
                <a:cs typeface="Times New Roman"/>
              </a:rPr>
              <a:t>Prince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Yadav,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50010</a:t>
            </a:r>
            <a:r>
              <a:rPr lang="en-US" sz="1800" dirty="0">
                <a:latin typeface="Times New Roman"/>
                <a:cs typeface="Times New Roman"/>
              </a:rPr>
              <a:t>----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lang="en-US" spc="-30" dirty="0">
                <a:latin typeface="Times New Roman"/>
                <a:cs typeface="Times New Roman"/>
              </a:rPr>
              <a:t>-</a:t>
            </a:r>
            <a:r>
              <a:rPr sz="1800" spc="-30" dirty="0">
                <a:latin typeface="Times New Roman"/>
                <a:cs typeface="Times New Roman"/>
              </a:rPr>
              <a:t>,</a:t>
            </a:r>
            <a:r>
              <a:rPr sz="1800" spc="-2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AI&amp;ML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105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Sparsh,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50010</a:t>
            </a:r>
            <a:r>
              <a:rPr lang="en-US" sz="1800" dirty="0">
                <a:latin typeface="Times New Roman"/>
                <a:cs typeface="Times New Roman"/>
              </a:rPr>
              <a:t>----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lang="en-US" spc="-55" dirty="0">
                <a:latin typeface="Times New Roman"/>
                <a:cs typeface="Times New Roman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AI&amp;ML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105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Dakshita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Jindal,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50010</a:t>
            </a:r>
            <a:r>
              <a:rPr lang="en-US" sz="1800" dirty="0">
                <a:latin typeface="Times New Roman"/>
                <a:cs typeface="Times New Roman"/>
              </a:rPr>
              <a:t>----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lang="en-US" spc="405" dirty="0">
                <a:latin typeface="Times New Roman"/>
                <a:cs typeface="Times New Roman"/>
              </a:rPr>
              <a:t>-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,AI&amp;ML</a:t>
            </a:r>
            <a:endParaRPr sz="1800" dirty="0">
              <a:latin typeface="Times New Roman"/>
              <a:cs typeface="Times New Roman"/>
            </a:endParaRPr>
          </a:p>
          <a:p>
            <a:pPr marL="352425" indent="-339725">
              <a:lnSpc>
                <a:spcPts val="2130"/>
              </a:lnSpc>
              <a:buAutoNum type="arabicPeriod"/>
              <a:tabLst>
                <a:tab pos="352425" algn="l"/>
              </a:tabLst>
            </a:pPr>
            <a:r>
              <a:rPr sz="1800" dirty="0">
                <a:latin typeface="Times New Roman"/>
                <a:cs typeface="Times New Roman"/>
              </a:rPr>
              <a:t>Anshu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50010</a:t>
            </a:r>
            <a:r>
              <a:rPr lang="en-US" sz="1800" dirty="0">
                <a:latin typeface="Times New Roman"/>
                <a:cs typeface="Times New Roman"/>
              </a:rPr>
              <a:t>----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lang="en-US" spc="-30" dirty="0">
                <a:latin typeface="Times New Roman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,AI&amp;ML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48125" y="85725"/>
            <a:ext cx="4962525" cy="7524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829299"/>
            <a:ext cx="12191999" cy="10286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86400" y="1066800"/>
            <a:ext cx="1047750" cy="1038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42875"/>
            <a:ext cx="1885950" cy="390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84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30"/>
              </a:spcBef>
            </a:pPr>
            <a:r>
              <a:rPr sz="3200" spc="-10" dirty="0"/>
              <a:t>Content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749617" y="1628838"/>
            <a:ext cx="1876425" cy="27539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355600" algn="l"/>
              </a:tabLst>
            </a:pPr>
            <a:r>
              <a:rPr sz="1550" spc="-10" dirty="0">
                <a:latin typeface="Times New Roman"/>
                <a:cs typeface="Times New Roman"/>
              </a:rPr>
              <a:t>Abstract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355600" algn="l"/>
              </a:tabLst>
            </a:pPr>
            <a:r>
              <a:rPr sz="1550" spc="-10" dirty="0">
                <a:latin typeface="Times New Roman"/>
                <a:cs typeface="Times New Roman"/>
              </a:rPr>
              <a:t>Introduction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355600" algn="l"/>
              </a:tabLst>
            </a:pPr>
            <a:r>
              <a:rPr sz="1550" dirty="0">
                <a:latin typeface="Times New Roman"/>
                <a:cs typeface="Times New Roman"/>
              </a:rPr>
              <a:t>Problem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Statement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355600" algn="l"/>
              </a:tabLst>
            </a:pPr>
            <a:r>
              <a:rPr sz="1550" spc="-10" dirty="0">
                <a:latin typeface="Times New Roman"/>
                <a:cs typeface="Times New Roman"/>
              </a:rPr>
              <a:t>Objective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355600" algn="l"/>
              </a:tabLst>
            </a:pPr>
            <a:r>
              <a:rPr sz="1550" spc="-10" dirty="0">
                <a:latin typeface="Times New Roman"/>
                <a:cs typeface="Times New Roman"/>
              </a:rPr>
              <a:t>Methodology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5600" algn="l"/>
              </a:tabLst>
            </a:pPr>
            <a:r>
              <a:rPr sz="1550" dirty="0">
                <a:latin typeface="Times New Roman"/>
                <a:cs typeface="Times New Roman"/>
              </a:rPr>
              <a:t>LSTM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model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355600" algn="l"/>
              </a:tabLst>
            </a:pPr>
            <a:r>
              <a:rPr sz="1550" dirty="0">
                <a:latin typeface="Times New Roman"/>
                <a:cs typeface="Times New Roman"/>
              </a:rPr>
              <a:t>GRU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model</a:t>
            </a:r>
            <a:endParaRPr sz="1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355600" algn="l"/>
              </a:tabLst>
            </a:pPr>
            <a:r>
              <a:rPr sz="1550" spc="-10" dirty="0">
                <a:latin typeface="Times New Roman"/>
                <a:cs typeface="Times New Roman"/>
              </a:rPr>
              <a:t>Applications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2000250"/>
            <a:ext cx="4791075" cy="24860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419724"/>
            <a:ext cx="12191999" cy="14382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7547" y="104519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42875"/>
            <a:ext cx="1885950" cy="390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5159" y="1106805"/>
            <a:ext cx="171958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Abstract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943474"/>
            <a:ext cx="12191999" cy="19145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8397" y="2045017"/>
            <a:ext cx="10165715" cy="3081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This project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stock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 analysis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Gated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Recurrent Unit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(GRU)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forecast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short-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historical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price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includes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deep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learning </a:t>
            </a:r>
            <a:r>
              <a:rPr sz="2000" dirty="0">
                <a:latin typeface="Times New Roman"/>
                <a:cs typeface="Times New Roman"/>
              </a:rPr>
              <a:t>model,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Flask-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browser-</a:t>
            </a:r>
            <a:r>
              <a:rPr sz="2000" dirty="0">
                <a:latin typeface="Times New Roman"/>
                <a:cs typeface="Times New Roman"/>
              </a:rPr>
              <a:t>accessible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frontend.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current </a:t>
            </a:r>
            <a:r>
              <a:rPr sz="2000" dirty="0">
                <a:latin typeface="Times New Roman"/>
                <a:cs typeface="Times New Roman"/>
              </a:rPr>
              <a:t>holdings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predictions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investment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suggestions.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operates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log-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trained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4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five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years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historical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data.</a:t>
            </a:r>
            <a:r>
              <a:rPr sz="2000" spc="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Optuna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tunes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model’s </a:t>
            </a:r>
            <a:r>
              <a:rPr sz="2000" dirty="0">
                <a:latin typeface="Times New Roman"/>
                <a:cs typeface="Times New Roman"/>
              </a:rPr>
              <a:t>hyperparameters,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Huber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loss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guides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training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4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impact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outliers.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 </a:t>
            </a:r>
            <a:r>
              <a:rPr sz="2000" dirty="0">
                <a:latin typeface="Times New Roman"/>
                <a:cs typeface="Times New Roman"/>
              </a:rPr>
              <a:t>evaluates</a:t>
            </a:r>
            <a:r>
              <a:rPr sz="2000" spc="45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regression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finance-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metrics,  including  </a:t>
            </a:r>
            <a:r>
              <a:rPr sz="2000" spc="-20" dirty="0">
                <a:latin typeface="Times New Roman"/>
                <a:cs typeface="Times New Roman"/>
              </a:rPr>
              <a:t>mean </a:t>
            </a:r>
            <a:r>
              <a:rPr sz="2000" dirty="0">
                <a:latin typeface="Times New Roman"/>
                <a:cs typeface="Times New Roman"/>
              </a:rPr>
              <a:t>absolute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root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square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R²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score,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directional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accuracy.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</a:t>
            </a:r>
            <a:r>
              <a:rPr sz="2000" dirty="0">
                <a:latin typeface="Times New Roman"/>
                <a:cs typeface="Times New Roman"/>
              </a:rPr>
              <a:t>offer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price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predictions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guaranteed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outcomes,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provides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working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example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machine </a:t>
            </a:r>
            <a:r>
              <a:rPr sz="2000" dirty="0">
                <a:latin typeface="Times New Roman"/>
                <a:cs typeface="Times New Roman"/>
              </a:rPr>
              <a:t>learning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assist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financial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decision-</a:t>
            </a:r>
            <a:r>
              <a:rPr sz="2000" spc="-10" dirty="0">
                <a:latin typeface="Times New Roman"/>
                <a:cs typeface="Times New Roman"/>
              </a:rPr>
              <a:t>making.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93247" y="1073765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42875"/>
            <a:ext cx="1885950" cy="390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9750" y="973074"/>
            <a:ext cx="250253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3082" y="3357816"/>
            <a:ext cx="106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082" y="1707832"/>
            <a:ext cx="10240645" cy="304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340" marR="5080" indent="-549275" algn="just">
              <a:lnSpc>
                <a:spcPct val="100099"/>
              </a:lnSpc>
              <a:spcBef>
                <a:spcPts val="100"/>
              </a:spcBef>
              <a:buFont typeface="Arial MT"/>
              <a:buChar char="•"/>
              <a:tabLst>
                <a:tab pos="561340" algn="l"/>
              </a:tabLst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explores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specifically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Gated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Recurrent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(GRUs),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short- 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movements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solely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historical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closing prices.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excluding external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as </a:t>
            </a:r>
            <a:r>
              <a:rPr sz="1800" dirty="0">
                <a:latin typeface="Times New Roman"/>
                <a:cs typeface="Times New Roman"/>
              </a:rPr>
              <a:t>news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technical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indicators,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remains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focused,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reproducible,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easier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interpret.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improve </a:t>
            </a:r>
            <a:r>
              <a:rPr sz="1800" dirty="0">
                <a:latin typeface="Times New Roman"/>
                <a:cs typeface="Times New Roman"/>
              </a:rPr>
              <a:t>predictive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performance,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key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3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parameters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length,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4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rate,</a:t>
            </a:r>
            <a:r>
              <a:rPr sz="1800" spc="4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dropout</a:t>
            </a:r>
            <a:r>
              <a:rPr sz="1800" spc="4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are </a:t>
            </a:r>
            <a:r>
              <a:rPr sz="1800" dirty="0">
                <a:latin typeface="Times New Roman"/>
                <a:cs typeface="Times New Roman"/>
              </a:rPr>
              <a:t>optimized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Optuna.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Huber</a:t>
            </a:r>
            <a:r>
              <a:rPr sz="1800" spc="3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loss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employed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during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robustness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against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market outliers.</a:t>
            </a:r>
            <a:endParaRPr sz="1800">
              <a:latin typeface="Times New Roman"/>
              <a:cs typeface="Times New Roman"/>
            </a:endParaRPr>
          </a:p>
          <a:p>
            <a:pPr marL="561340" marR="8890" algn="just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GRU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deployed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through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Flask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backend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accessed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user-</a:t>
            </a:r>
            <a:r>
              <a:rPr sz="1800" dirty="0">
                <a:latin typeface="Times New Roman"/>
                <a:cs typeface="Times New Roman"/>
              </a:rPr>
              <a:t>friendly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frontend. </a:t>
            </a:r>
            <a:r>
              <a:rPr sz="1800" dirty="0">
                <a:latin typeface="Times New Roman"/>
                <a:cs typeface="Times New Roman"/>
              </a:rPr>
              <a:t>Users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portfolios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receive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short-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forecasts,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translated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 </a:t>
            </a:r>
            <a:r>
              <a:rPr sz="1800" dirty="0">
                <a:latin typeface="Times New Roman"/>
                <a:cs typeface="Times New Roman"/>
              </a:rPr>
              <a:t>simple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suggestions—</a:t>
            </a:r>
            <a:r>
              <a:rPr sz="1800" dirty="0">
                <a:latin typeface="Times New Roman"/>
                <a:cs typeface="Times New Roman"/>
              </a:rPr>
              <a:t>buy,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hold,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sell—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predicted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trends.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not </a:t>
            </a:r>
            <a:r>
              <a:rPr sz="1800" dirty="0">
                <a:latin typeface="Times New Roman"/>
                <a:cs typeface="Times New Roman"/>
              </a:rPr>
              <a:t>intended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offer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financial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advice,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demonstrates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complete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functional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pipeline,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raw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practical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output,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context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943474"/>
            <a:ext cx="12191999" cy="19145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07547" y="104519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9752" y="1106169"/>
            <a:ext cx="3767454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204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1332" y="1931987"/>
            <a:ext cx="6573520" cy="29705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97300"/>
              </a:lnSpc>
              <a:spcBef>
                <a:spcPts val="160"/>
              </a:spcBef>
            </a:pPr>
            <a:r>
              <a:rPr sz="1800" dirty="0">
                <a:latin typeface="Times New Roman"/>
                <a:cs typeface="Times New Roman"/>
              </a:rPr>
              <a:t>Predicting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short-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movements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inherently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challenging </a:t>
            </a:r>
            <a:r>
              <a:rPr sz="1800" dirty="0">
                <a:latin typeface="Times New Roman"/>
                <a:cs typeface="Times New Roman"/>
              </a:rPr>
              <a:t>due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market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volatility,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limited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2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visibility,</a:t>
            </a:r>
            <a:r>
              <a:rPr sz="1800" spc="2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influence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unpredictable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external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events.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Traditional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complex </a:t>
            </a:r>
            <a:r>
              <a:rPr sz="1800" dirty="0">
                <a:latin typeface="Times New Roman"/>
                <a:cs typeface="Times New Roman"/>
              </a:rPr>
              <a:t>feature</a:t>
            </a:r>
            <a:r>
              <a:rPr sz="1800" spc="11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engineering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incorporate</a:t>
            </a:r>
            <a:r>
              <a:rPr sz="1800" spc="12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external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indicators</a:t>
            </a:r>
            <a:r>
              <a:rPr sz="1800" spc="10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0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reduce </a:t>
            </a:r>
            <a:r>
              <a:rPr sz="1800" dirty="0">
                <a:latin typeface="Times New Roman"/>
                <a:cs typeface="Times New Roman"/>
              </a:rPr>
              <a:t>reproducibility.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aims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address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forecasting </a:t>
            </a:r>
            <a:r>
              <a:rPr sz="1800" spc="-20" dirty="0">
                <a:latin typeface="Times New Roman"/>
                <a:cs typeface="Times New Roman"/>
              </a:rPr>
              <a:t>short-</a:t>
            </a:r>
            <a:r>
              <a:rPr sz="1800" dirty="0">
                <a:latin typeface="Times New Roman"/>
                <a:cs typeface="Times New Roman"/>
              </a:rPr>
              <a:t>term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log-</a:t>
            </a:r>
            <a:r>
              <a:rPr sz="1800" dirty="0">
                <a:latin typeface="Times New Roman"/>
                <a:cs typeface="Times New Roman"/>
              </a:rPr>
              <a:t>returns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stocks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historical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price </a:t>
            </a:r>
            <a:r>
              <a:rPr sz="1800" dirty="0">
                <a:latin typeface="Times New Roman"/>
                <a:cs typeface="Times New Roman"/>
              </a:rPr>
              <a:t>data.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goal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build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reliable,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lightweight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system—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Gated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Recurrent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Units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(GRUs)—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patterns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past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trends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</a:t>
            </a:r>
            <a:r>
              <a:rPr sz="1800" spc="2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actionable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insights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basic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portfolio </a:t>
            </a:r>
            <a:r>
              <a:rPr sz="1800" dirty="0">
                <a:latin typeface="Times New Roman"/>
                <a:cs typeface="Times New Roman"/>
              </a:rPr>
              <a:t>decisions.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solution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must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efficient,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interpretable,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deployable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complete </a:t>
            </a:r>
            <a:r>
              <a:rPr sz="1800" spc="-20" dirty="0">
                <a:latin typeface="Times New Roman"/>
                <a:cs typeface="Times New Roman"/>
              </a:rPr>
              <a:t>end-to-</a:t>
            </a:r>
            <a:r>
              <a:rPr sz="1800" dirty="0">
                <a:latin typeface="Times New Roman"/>
                <a:cs typeface="Times New Roman"/>
              </a:rPr>
              <a:t>end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pipeline.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62825" y="1943100"/>
            <a:ext cx="4419600" cy="32289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07547" y="959465"/>
            <a:ext cx="411779" cy="4482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448299"/>
            <a:ext cx="12191999" cy="1409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2592" y="971168"/>
            <a:ext cx="207200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83297" y="1761172"/>
            <a:ext cx="10442575" cy="2929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113030" indent="-28638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Forecast</a:t>
            </a:r>
            <a:r>
              <a:rPr sz="2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D0D0D"/>
                </a:solidFill>
                <a:latin typeface="Times New Roman"/>
                <a:cs typeface="Times New Roman"/>
              </a:rPr>
              <a:t>short-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term</a:t>
            </a:r>
            <a:r>
              <a:rPr sz="2000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stock</a:t>
            </a:r>
            <a:r>
              <a:rPr sz="2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returns</a:t>
            </a:r>
            <a:r>
              <a:rPr sz="20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using</a:t>
            </a:r>
            <a:r>
              <a:rPr sz="2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2000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D0D0D"/>
                </a:solidFill>
                <a:latin typeface="Times New Roman"/>
                <a:cs typeface="Times New Roman"/>
              </a:rPr>
              <a:t>GRU-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sz="20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model</a:t>
            </a:r>
            <a:r>
              <a:rPr sz="2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trained</a:t>
            </a:r>
            <a:r>
              <a:rPr sz="2000" spc="-1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sz="2000" spc="-1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historical</a:t>
            </a:r>
            <a:r>
              <a:rPr sz="2000" spc="-11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price</a:t>
            </a:r>
            <a:r>
              <a:rPr sz="2000" spc="-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sz="2000" spc="-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000" spc="-1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D0D0D"/>
                </a:solidFill>
                <a:latin typeface="Times New Roman"/>
                <a:cs typeface="Times New Roman"/>
              </a:rPr>
              <a:t>log-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returns.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Translate</a:t>
            </a:r>
            <a:r>
              <a:rPr sz="2000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predictions</a:t>
            </a:r>
            <a:r>
              <a:rPr sz="2000"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into</a:t>
            </a:r>
            <a:r>
              <a:rPr sz="2000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simple</a:t>
            </a:r>
            <a:r>
              <a:rPr sz="2000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portfolio</a:t>
            </a:r>
            <a:r>
              <a:rPr sz="2000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D0D0D"/>
                </a:solidFill>
                <a:latin typeface="Times New Roman"/>
                <a:cs typeface="Times New Roman"/>
              </a:rPr>
              <a:t>actions—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buy,</a:t>
            </a:r>
            <a:r>
              <a:rPr sz="20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hold,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sz="2000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D0D0D"/>
                </a:solidFill>
                <a:latin typeface="Times New Roman"/>
                <a:cs typeface="Times New Roman"/>
              </a:rPr>
              <a:t>sell—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sz="2000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sz="2000" spc="-1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expected</a:t>
            </a:r>
            <a:r>
              <a:rPr sz="2000"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return</a:t>
            </a:r>
            <a:endParaRPr sz="20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direction.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Provide</a:t>
            </a:r>
            <a:r>
              <a:rPr sz="2000" spc="-9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D0D0D"/>
                </a:solidFill>
                <a:latin typeface="Times New Roman"/>
                <a:cs typeface="Times New Roman"/>
              </a:rPr>
              <a:t>user-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facing</a:t>
            </a:r>
            <a:r>
              <a:rPr sz="2000" spc="-11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interface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where</a:t>
            </a:r>
            <a:r>
              <a:rPr sz="2000" spc="-1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users</a:t>
            </a:r>
            <a:r>
              <a:rPr sz="2000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can</a:t>
            </a:r>
            <a:r>
              <a:rPr sz="2000" spc="-1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upload</a:t>
            </a:r>
            <a:r>
              <a:rPr sz="2000" spc="-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their</a:t>
            </a:r>
            <a:r>
              <a:rPr sz="2000" spc="-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portfolio</a:t>
            </a:r>
            <a:r>
              <a:rPr sz="2000" spc="-11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000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receive</a:t>
            </a:r>
            <a:r>
              <a:rPr sz="2000" spc="-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model-based</a:t>
            </a:r>
            <a:endParaRPr sz="20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feedback.</a:t>
            </a:r>
            <a:endParaRPr sz="2000">
              <a:latin typeface="Times New Roman"/>
              <a:cs typeface="Times New Roman"/>
            </a:endParaRPr>
          </a:p>
          <a:p>
            <a:pPr marL="298450" marR="5080" indent="-28638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Demonstrate</a:t>
            </a:r>
            <a:r>
              <a:rPr sz="20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sz="20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complete</a:t>
            </a:r>
            <a:r>
              <a:rPr sz="20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000" spc="-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modular</a:t>
            </a:r>
            <a:r>
              <a:rPr sz="20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machine</a:t>
            </a:r>
            <a:r>
              <a:rPr sz="2000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learning</a:t>
            </a:r>
            <a:r>
              <a:rPr sz="2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sz="2000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sz="2000" spc="-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moves</a:t>
            </a:r>
            <a:r>
              <a:rPr sz="2000" spc="-11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from</a:t>
            </a:r>
            <a:r>
              <a:rPr sz="2000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raw</a:t>
            </a:r>
            <a:r>
              <a:rPr sz="2000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financial</a:t>
            </a:r>
            <a:r>
              <a:rPr sz="2000" spc="-114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sz="2000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D0D0D"/>
                </a:solidFill>
                <a:latin typeface="Times New Roman"/>
                <a:cs typeface="Times New Roman"/>
              </a:rPr>
              <a:t>to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interpretable</a:t>
            </a:r>
            <a:r>
              <a:rPr sz="2000" spc="-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Times New Roman"/>
                <a:cs typeface="Times New Roman"/>
              </a:rPr>
              <a:t>output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" y="5333999"/>
            <a:ext cx="12077700" cy="15239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5912" y="1454086"/>
            <a:ext cx="7547609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0D0D"/>
                </a:solidFill>
                <a:latin typeface="Arial"/>
                <a:cs typeface="Arial"/>
              </a:rPr>
              <a:t>Data</a:t>
            </a:r>
            <a:r>
              <a:rPr sz="1800" b="1" spc="-7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Preprocessing:</a:t>
            </a:r>
            <a:endParaRPr sz="1800">
              <a:latin typeface="Arial"/>
              <a:cs typeface="Arial"/>
            </a:endParaRPr>
          </a:p>
          <a:p>
            <a:pPr marL="74295" marR="1944370">
              <a:lnSpc>
                <a:spcPts val="2180"/>
              </a:lnSpc>
              <a:spcBef>
                <a:spcPts val="75"/>
              </a:spcBef>
            </a:pP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Loaded</a:t>
            </a:r>
            <a:r>
              <a:rPr sz="1800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cleaned</a:t>
            </a:r>
            <a:r>
              <a:rPr sz="1800" spc="-10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historical</a:t>
            </a:r>
            <a:r>
              <a:rPr sz="1800" spc="-9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stock</a:t>
            </a:r>
            <a:r>
              <a:rPr sz="1800" spc="-8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data</a:t>
            </a:r>
            <a:r>
              <a:rPr sz="1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(say</a:t>
            </a:r>
            <a:r>
              <a:rPr sz="1800" spc="-8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7</a:t>
            </a:r>
            <a:r>
              <a:rPr sz="1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years).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Kept</a:t>
            </a:r>
            <a:r>
              <a:rPr sz="1800" spc="-8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only</a:t>
            </a:r>
            <a:r>
              <a:rPr sz="1800" spc="-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'Date'</a:t>
            </a:r>
            <a:r>
              <a:rPr sz="1800" spc="-7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18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'Close'</a:t>
            </a:r>
            <a:r>
              <a:rPr sz="1800" spc="-7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columns;</a:t>
            </a:r>
            <a:r>
              <a:rPr sz="1800" spc="-7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sorted</a:t>
            </a:r>
            <a:r>
              <a:rPr sz="18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by</a:t>
            </a:r>
            <a:r>
              <a:rPr sz="1800" spc="-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date.</a:t>
            </a:r>
            <a:endParaRPr sz="1800">
              <a:latin typeface="Arial MT"/>
              <a:cs typeface="Arial MT"/>
            </a:endParaRPr>
          </a:p>
          <a:p>
            <a:pPr marL="74295">
              <a:lnSpc>
                <a:spcPts val="2100"/>
              </a:lnSpc>
            </a:pP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Normalized</a:t>
            </a:r>
            <a:r>
              <a:rPr sz="1800" spc="-1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prices</a:t>
            </a:r>
            <a:r>
              <a:rPr sz="1800" spc="-1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using</a:t>
            </a:r>
            <a:r>
              <a:rPr sz="1800" spc="-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MinMaxScaler.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sz="1800" b="1" spc="-20" dirty="0">
                <a:solidFill>
                  <a:srgbClr val="0D0D0D"/>
                </a:solidFill>
                <a:latin typeface="Arial"/>
                <a:cs typeface="Arial"/>
              </a:rPr>
              <a:t>Train-</a:t>
            </a:r>
            <a:r>
              <a:rPr sz="1800" b="1" dirty="0">
                <a:solidFill>
                  <a:srgbClr val="0D0D0D"/>
                </a:solidFill>
                <a:latin typeface="Arial"/>
                <a:cs typeface="Arial"/>
              </a:rPr>
              <a:t>Test</a:t>
            </a:r>
            <a:r>
              <a:rPr sz="1800" b="1" spc="-5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Split:</a:t>
            </a:r>
            <a:endParaRPr sz="1800">
              <a:latin typeface="Arial"/>
              <a:cs typeface="Arial"/>
            </a:endParaRPr>
          </a:p>
          <a:p>
            <a:pPr marL="74295">
              <a:lnSpc>
                <a:spcPts val="2130"/>
              </a:lnSpc>
            </a:pP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Split</a:t>
            </a:r>
            <a:r>
              <a:rPr sz="1800" spc="-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dataset</a:t>
            </a:r>
            <a:r>
              <a:rPr sz="1800" spc="-8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into</a:t>
            </a:r>
            <a:r>
              <a:rPr sz="18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training</a:t>
            </a:r>
            <a:r>
              <a:rPr sz="1800" spc="-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(70%)</a:t>
            </a:r>
            <a:r>
              <a:rPr sz="1800" spc="-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1800" spc="-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testing</a:t>
            </a:r>
            <a:r>
              <a:rPr sz="18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(30%)</a:t>
            </a:r>
            <a:r>
              <a:rPr sz="1800" spc="-10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sets.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0D0D0D"/>
                </a:solidFill>
                <a:latin typeface="Arial"/>
                <a:cs typeface="Arial"/>
              </a:rPr>
              <a:t>Model</a:t>
            </a:r>
            <a:r>
              <a:rPr sz="1800" b="1" spc="-9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Selection:</a:t>
            </a:r>
            <a:endParaRPr sz="1800">
              <a:latin typeface="Arial"/>
              <a:cs typeface="Arial"/>
            </a:endParaRPr>
          </a:p>
          <a:p>
            <a:pPr marL="74295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Used</a:t>
            </a:r>
            <a:r>
              <a:rPr sz="1800" spc="-7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LSTM</a:t>
            </a:r>
            <a:r>
              <a:rPr sz="1800" spc="-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model</a:t>
            </a:r>
            <a:r>
              <a:rPr sz="1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1800" spc="-1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GRU</a:t>
            </a:r>
            <a:r>
              <a:rPr sz="1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model</a:t>
            </a:r>
            <a:r>
              <a:rPr sz="1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sz="1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sequential</a:t>
            </a:r>
            <a:r>
              <a:rPr sz="1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architecture.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solidFill>
                  <a:srgbClr val="0D0D0D"/>
                </a:solidFill>
                <a:latin typeface="Arial"/>
                <a:cs typeface="Arial"/>
              </a:rPr>
              <a:t>Model</a:t>
            </a:r>
            <a:r>
              <a:rPr sz="1800" b="1" spc="-95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Training:</a:t>
            </a:r>
            <a:endParaRPr sz="1800">
              <a:latin typeface="Arial"/>
              <a:cs typeface="Arial"/>
            </a:endParaRPr>
          </a:p>
          <a:p>
            <a:pPr marL="74295">
              <a:lnSpc>
                <a:spcPts val="2130"/>
              </a:lnSpc>
              <a:spcBef>
                <a:spcPts val="15"/>
              </a:spcBef>
            </a:pP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Trained</a:t>
            </a:r>
            <a:r>
              <a:rPr sz="18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separately</a:t>
            </a:r>
            <a:r>
              <a:rPr sz="1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sz="1800" spc="-9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TCS,</a:t>
            </a:r>
            <a:r>
              <a:rPr sz="1800" spc="-7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Infosys,</a:t>
            </a:r>
            <a:r>
              <a:rPr sz="1800" spc="-8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1800" spc="-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L&amp;T</a:t>
            </a:r>
            <a:r>
              <a:rPr sz="1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using</a:t>
            </a:r>
            <a:r>
              <a:rPr sz="1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MSE</a:t>
            </a:r>
            <a:r>
              <a:rPr sz="1800" spc="-9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loss.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0"/>
              </a:lnSpc>
            </a:pP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Prediction</a:t>
            </a:r>
            <a:r>
              <a:rPr sz="1800" b="1" spc="-3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Output:</a:t>
            </a:r>
            <a:endParaRPr sz="1800">
              <a:latin typeface="Arial"/>
              <a:cs typeface="Arial"/>
            </a:endParaRPr>
          </a:p>
          <a:p>
            <a:pPr marL="74295" marR="5080">
              <a:lnSpc>
                <a:spcPts val="2180"/>
              </a:lnSpc>
              <a:spcBef>
                <a:spcPts val="75"/>
              </a:spcBef>
            </a:pP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Predicted</a:t>
            </a:r>
            <a:r>
              <a:rPr sz="1800" spc="-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future</a:t>
            </a:r>
            <a:r>
              <a:rPr sz="1800" spc="-7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prices;</a:t>
            </a:r>
            <a:r>
              <a:rPr sz="1800" spc="-9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recommended</a:t>
            </a:r>
            <a:r>
              <a:rPr sz="1800" spc="-114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stock</a:t>
            </a:r>
            <a:r>
              <a:rPr sz="1800" spc="-114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sz="1800" spc="-7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highest</a:t>
            </a:r>
            <a:r>
              <a:rPr sz="1800" spc="-9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expected</a:t>
            </a:r>
            <a:r>
              <a:rPr sz="1800" spc="-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growth.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1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predict</a:t>
            </a:r>
            <a:r>
              <a:rPr sz="1800" spc="-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1800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next</a:t>
            </a:r>
            <a:r>
              <a:rPr sz="1800" spc="-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7</a:t>
            </a:r>
            <a:r>
              <a:rPr sz="1800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D0D0D"/>
                </a:solidFill>
                <a:latin typeface="Arial MT"/>
                <a:cs typeface="Arial MT"/>
              </a:rPr>
              <a:t>days</a:t>
            </a:r>
            <a:r>
              <a:rPr sz="1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stock</a:t>
            </a:r>
            <a:r>
              <a:rPr sz="1800" spc="-8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Arial MT"/>
                <a:cs typeface="Arial MT"/>
              </a:rPr>
              <a:t>prices.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343524"/>
            <a:ext cx="12191999" cy="15144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59947" y="96899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92" y="712088"/>
            <a:ext cx="2513965" cy="11283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65"/>
              </a:spcBef>
            </a:pPr>
            <a:r>
              <a:rPr spc="-10" dirty="0"/>
              <a:t>Model 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5035" y="32024"/>
            <a:ext cx="5926446" cy="6807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815" y="2018664"/>
            <a:ext cx="2515870" cy="16814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spc="-10" dirty="0"/>
              <a:t>System Architecture 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0642" y="18287"/>
            <a:ext cx="8606783" cy="68351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Flow</a:t>
            </a:r>
            <a:r>
              <a:rPr spc="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0" y="85725"/>
            <a:ext cx="4638675" cy="6953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391274"/>
            <a:ext cx="12191999" cy="466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6481" y="1941230"/>
            <a:ext cx="9343610" cy="3884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340" y="1908492"/>
            <a:ext cx="9464040" cy="19507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781175" indent="-10160">
              <a:lnSpc>
                <a:spcPct val="100800"/>
              </a:lnSpc>
              <a:spcBef>
                <a:spcPts val="85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dirty="0"/>
              <a:t>	</a:t>
            </a:r>
            <a:r>
              <a:rPr sz="1800" dirty="0">
                <a:latin typeface="Times New Roman"/>
                <a:cs typeface="Times New Roman"/>
              </a:rPr>
              <a:t>LSTM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well-</a:t>
            </a:r>
            <a:r>
              <a:rPr sz="1800" dirty="0">
                <a:latin typeface="Times New Roman"/>
                <a:cs typeface="Times New Roman"/>
              </a:rPr>
              <a:t>suited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captures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time-based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patterns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sequential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LSTM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past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days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trading</a:t>
            </a:r>
            <a:r>
              <a:rPr sz="1800" spc="-10" dirty="0">
                <a:latin typeface="Times New Roman"/>
                <a:cs typeface="Times New Roman"/>
              </a:rPr>
              <a:t> days.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ts val="2130"/>
              </a:lnSpc>
              <a:spcBef>
                <a:spcPts val="20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trends,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fluctuations,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dependencies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movement.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ts val="2130"/>
              </a:lnSpc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Stacked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LSTM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layers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model’s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ability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complex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patterns.</a:t>
            </a:r>
            <a:endParaRPr sz="1800">
              <a:latin typeface="Times New Roman"/>
              <a:cs typeface="Times New Roman"/>
            </a:endParaRPr>
          </a:p>
          <a:p>
            <a:pPr marL="12700" marR="5080" indent="-10160">
              <a:lnSpc>
                <a:spcPct val="100800"/>
              </a:lnSpc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	This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approach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enables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accurate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consistent </a:t>
            </a:r>
            <a:r>
              <a:rPr sz="1800" spc="-20" dirty="0">
                <a:latin typeface="Times New Roman"/>
                <a:cs typeface="Times New Roman"/>
              </a:rPr>
              <a:t>short-</a:t>
            </a:r>
            <a:r>
              <a:rPr sz="1800" dirty="0">
                <a:latin typeface="Times New Roman"/>
                <a:cs typeface="Times New Roman"/>
              </a:rPr>
              <a:t>term stock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forecasts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compared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traditional models.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5"/>
              </a:spcBef>
            </a:pPr>
            <a:r>
              <a:rPr dirty="0"/>
              <a:t>LSTM</a:t>
            </a:r>
            <a:r>
              <a:rPr spc="-4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STOCK</a:t>
            </a:r>
            <a:r>
              <a:rPr spc="-30" dirty="0"/>
              <a:t> </a:t>
            </a:r>
            <a:r>
              <a:rPr dirty="0"/>
              <a:t>MARKET </a:t>
            </a:r>
            <a:r>
              <a:rPr spc="-10" dirty="0"/>
              <a:t>PREDICTION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049000" y="542925"/>
            <a:ext cx="1047750" cy="1038225"/>
            <a:chOff x="11049000" y="542925"/>
            <a:chExt cx="1047750" cy="1038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0397" y="692765"/>
              <a:ext cx="411779" cy="4482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9000" y="542925"/>
              <a:ext cx="1047750" cy="103822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" y="753363"/>
            <a:ext cx="730567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ALGORITHM</a:t>
            </a:r>
            <a:r>
              <a:rPr spc="-65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LSTM</a:t>
            </a:r>
            <a:r>
              <a:rPr spc="1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340" y="1733232"/>
            <a:ext cx="8201659" cy="387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4625">
              <a:lnSpc>
                <a:spcPct val="100000"/>
              </a:lnSpc>
              <a:spcBef>
                <a:spcPts val="100"/>
              </a:spcBef>
              <a:buClr>
                <a:srgbClr val="0D0D0D"/>
              </a:buClr>
              <a:buSzPct val="94444"/>
              <a:buFont typeface="Times New Roman"/>
              <a:buAutoNum type="arabicPeriod"/>
              <a:tabLst>
                <a:tab pos="18351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Start</a:t>
            </a:r>
            <a:endParaRPr sz="1800">
              <a:latin typeface="Times New Roman"/>
              <a:cs typeface="Times New Roman"/>
            </a:endParaRPr>
          </a:p>
          <a:p>
            <a:pPr marL="183515" indent="-174625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4444"/>
              <a:buFont typeface="Times New Roman"/>
              <a:buAutoNum type="arabicPeriod"/>
              <a:tabLst>
                <a:tab pos="183515" algn="l"/>
              </a:tabLst>
            </a:pPr>
            <a:r>
              <a:rPr sz="1800" b="1" dirty="0">
                <a:latin typeface="Times New Roman"/>
                <a:cs typeface="Times New Roman"/>
              </a:rPr>
              <a:t>Load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Clean</a:t>
            </a:r>
            <a:r>
              <a:rPr sz="1800" b="1" spc="-20" dirty="0">
                <a:latin typeface="Times New Roman"/>
                <a:cs typeface="Times New Roman"/>
              </a:rPr>
              <a:t> Data</a:t>
            </a:r>
            <a:endParaRPr sz="1800">
              <a:latin typeface="Times New Roman"/>
              <a:cs typeface="Times New Roman"/>
            </a:endParaRPr>
          </a:p>
          <a:p>
            <a:pPr marL="91440" lvl="1" indent="-88900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Import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stock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CSV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files.</a:t>
            </a:r>
            <a:endParaRPr sz="1800">
              <a:latin typeface="Times New Roman"/>
              <a:cs typeface="Times New Roman"/>
            </a:endParaRPr>
          </a:p>
          <a:p>
            <a:pPr marL="91440" lvl="1" indent="-88900">
              <a:lnSpc>
                <a:spcPts val="2130"/>
              </a:lnSpc>
              <a:spcBef>
                <a:spcPts val="20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Convert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columns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invalid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missing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values.</a:t>
            </a:r>
            <a:endParaRPr sz="1800">
              <a:latin typeface="Times New Roman"/>
              <a:cs typeface="Times New Roman"/>
            </a:endParaRPr>
          </a:p>
          <a:p>
            <a:pPr marL="91440" lvl="1" indent="-88900">
              <a:lnSpc>
                <a:spcPts val="2130"/>
              </a:lnSpc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Keep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columns.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3.</a:t>
            </a:r>
            <a:r>
              <a:rPr sz="1800" b="1" dirty="0">
                <a:latin typeface="Times New Roman"/>
                <a:cs typeface="Times New Roman"/>
              </a:rPr>
              <a:t>Preprocess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Sort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date.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Normalize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MinMaxScaler.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ts val="2130"/>
              </a:lnSpc>
              <a:spcBef>
                <a:spcPts val="15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consecutive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61st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output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label.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4.</a:t>
            </a:r>
            <a:r>
              <a:rPr sz="1800" b="1" dirty="0">
                <a:latin typeface="Times New Roman"/>
                <a:cs typeface="Times New Roman"/>
              </a:rPr>
              <a:t>Split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4444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Split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testing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(e.g.,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80%-</a:t>
            </a:r>
            <a:r>
              <a:rPr sz="1800" spc="-10" dirty="0">
                <a:latin typeface="Times New Roman"/>
                <a:cs typeface="Times New Roman"/>
              </a:rPr>
              <a:t>20%).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solidFill>
                  <a:srgbClr val="0D0D0D"/>
                </a:solidFill>
                <a:latin typeface="Times New Roman"/>
                <a:cs typeface="Times New Roman"/>
              </a:rPr>
              <a:t>5.</a:t>
            </a:r>
            <a:r>
              <a:rPr sz="1800" b="1" dirty="0">
                <a:latin typeface="Times New Roman"/>
                <a:cs typeface="Times New Roman"/>
              </a:rPr>
              <a:t>Get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user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input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Enter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amount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invested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day.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4444"/>
              <a:buFont typeface="Arial MT"/>
              <a:buChar char="•"/>
              <a:tabLst>
                <a:tab pos="91440" algn="l"/>
              </a:tabLst>
            </a:pPr>
            <a:r>
              <a:rPr sz="1800" dirty="0">
                <a:latin typeface="Times New Roman"/>
                <a:cs typeface="Times New Roman"/>
              </a:rPr>
              <a:t>Enter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investment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day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amount.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676899"/>
            <a:ext cx="12191999" cy="11810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/>
              <a:t>ALGORITHM</a:t>
            </a:r>
            <a:r>
              <a:rPr spc="-6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LSTM</a:t>
            </a:r>
            <a:r>
              <a:rPr spc="15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spc="-10" dirty="0"/>
              <a:t>(CONTD..)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340" y="1743075"/>
            <a:ext cx="8885555" cy="3680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125"/>
              </a:spcBef>
              <a:buClr>
                <a:srgbClr val="0D0D0D"/>
              </a:buClr>
              <a:buSzPct val="93548"/>
              <a:buFont typeface="Times New Roman"/>
              <a:buAutoNum type="arabicPeriod" startAt="6"/>
              <a:tabLst>
                <a:tab pos="164465" algn="l"/>
              </a:tabLst>
            </a:pPr>
            <a:r>
              <a:rPr sz="1550" b="1" dirty="0">
                <a:latin typeface="Times New Roman"/>
                <a:cs typeface="Times New Roman"/>
              </a:rPr>
              <a:t>Build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LSTM</a:t>
            </a:r>
            <a:r>
              <a:rPr sz="1550" b="1" spc="160" dirty="0">
                <a:latin typeface="Times New Roman"/>
                <a:cs typeface="Times New Roman"/>
              </a:rPr>
              <a:t> </a:t>
            </a:r>
            <a:r>
              <a:rPr sz="1550" b="1" spc="-20" dirty="0">
                <a:latin typeface="Times New Roman"/>
                <a:cs typeface="Times New Roman"/>
              </a:rPr>
              <a:t>model</a:t>
            </a:r>
            <a:endParaRPr sz="1550">
              <a:latin typeface="Times New Roman"/>
              <a:cs typeface="Times New Roman"/>
            </a:endParaRPr>
          </a:p>
          <a:p>
            <a:pPr marL="83820" lvl="1" indent="-78105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Initialize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Sequential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Keras.</a:t>
            </a:r>
            <a:endParaRPr sz="1550">
              <a:latin typeface="Times New Roman"/>
              <a:cs typeface="Times New Roman"/>
            </a:endParaRPr>
          </a:p>
          <a:p>
            <a:pPr marL="83820" lvl="1" indent="-78105">
              <a:lnSpc>
                <a:spcPct val="100000"/>
              </a:lnSpc>
              <a:spcBef>
                <a:spcPts val="9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Add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first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LSTM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layer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50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units.</a:t>
            </a:r>
            <a:endParaRPr sz="1550">
              <a:latin typeface="Times New Roman"/>
              <a:cs typeface="Times New Roman"/>
            </a:endParaRPr>
          </a:p>
          <a:p>
            <a:pPr marL="83820" lvl="1" indent="-78105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Add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second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LSTM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layer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50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units.</a:t>
            </a:r>
            <a:endParaRPr sz="1550">
              <a:latin typeface="Times New Roman"/>
              <a:cs typeface="Times New Roman"/>
            </a:endParaRPr>
          </a:p>
          <a:p>
            <a:pPr marL="83820" lvl="1" indent="-78105">
              <a:lnSpc>
                <a:spcPct val="100000"/>
              </a:lnSpc>
              <a:spcBef>
                <a:spcPts val="9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Add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Dense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layer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unit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next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closing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price.</a:t>
            </a:r>
            <a:endParaRPr sz="1550">
              <a:latin typeface="Times New Roman"/>
              <a:cs typeface="Times New Roman"/>
            </a:endParaRPr>
          </a:p>
          <a:p>
            <a:pPr marL="83820" lvl="1" indent="-78105">
              <a:lnSpc>
                <a:spcPct val="100000"/>
              </a:lnSpc>
              <a:spcBef>
                <a:spcPts val="90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spc="10" dirty="0">
                <a:latin typeface="Times New Roman"/>
                <a:cs typeface="Times New Roman"/>
              </a:rPr>
              <a:t>Compile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model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using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mean_squared_error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as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loss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function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and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adam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the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optimizer.</a:t>
            </a:r>
            <a:endParaRPr sz="1550">
              <a:latin typeface="Times New Roman"/>
              <a:cs typeface="Times New Roman"/>
            </a:endParaRPr>
          </a:p>
          <a:p>
            <a:pPr marL="83820" lvl="1" indent="-78105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Fit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on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training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defined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number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epochs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batch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size.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solidFill>
                  <a:srgbClr val="0D0D0D"/>
                </a:solidFill>
                <a:latin typeface="Times New Roman"/>
                <a:cs typeface="Times New Roman"/>
              </a:rPr>
              <a:t>7.</a:t>
            </a:r>
            <a:r>
              <a:rPr sz="1550" b="1" dirty="0">
                <a:latin typeface="Times New Roman"/>
                <a:cs typeface="Times New Roman"/>
              </a:rPr>
              <a:t>Make</a:t>
            </a:r>
            <a:r>
              <a:rPr sz="1550" b="1" spc="16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Predictions</a:t>
            </a:r>
            <a:endParaRPr sz="155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given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investment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date:</a:t>
            </a:r>
            <a:endParaRPr sz="155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Extract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last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60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days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prices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before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date.</a:t>
            </a:r>
            <a:endParaRPr sz="155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Predict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prices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next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7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trading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days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rolling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input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window.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solidFill>
                  <a:srgbClr val="0D0D0D"/>
                </a:solidFill>
                <a:latin typeface="Times New Roman"/>
                <a:cs typeface="Times New Roman"/>
              </a:rPr>
              <a:t>8.</a:t>
            </a:r>
            <a:r>
              <a:rPr sz="1550" b="1" dirty="0">
                <a:latin typeface="Times New Roman"/>
                <a:cs typeface="Times New Roman"/>
              </a:rPr>
              <a:t>Investment</a:t>
            </a:r>
            <a:r>
              <a:rPr sz="1550" b="1" spc="30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Summary</a:t>
            </a:r>
            <a:endParaRPr sz="155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Calculate: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Number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shares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bought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using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investment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amount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current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price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expected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profit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or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loss..</a:t>
            </a:r>
            <a:endParaRPr sz="1550">
              <a:latin typeface="Times New Roman"/>
              <a:cs typeface="Times New Roman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3548"/>
              <a:buChar char="•"/>
              <a:tabLst>
                <a:tab pos="83820" algn="l"/>
              </a:tabLst>
            </a:pPr>
            <a:r>
              <a:rPr sz="1550" dirty="0">
                <a:latin typeface="Times New Roman"/>
                <a:cs typeface="Times New Roman"/>
              </a:rPr>
              <a:t>Best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selling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day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within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7-day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forecast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(highest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predicted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price).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10" dirty="0">
                <a:solidFill>
                  <a:srgbClr val="0D0D0D"/>
                </a:solidFill>
                <a:latin typeface="Times New Roman"/>
                <a:cs typeface="Times New Roman"/>
              </a:rPr>
              <a:t>9.</a:t>
            </a:r>
            <a:r>
              <a:rPr sz="1550" b="1" spc="-10" dirty="0">
                <a:latin typeface="Times New Roman"/>
                <a:cs typeface="Times New Roman"/>
              </a:rPr>
              <a:t>End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92" y="861313"/>
            <a:ext cx="6216015" cy="11283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dirty="0"/>
              <a:t>OUTPUT</a:t>
            </a:r>
            <a:r>
              <a:rPr spc="-30" dirty="0"/>
              <a:t> </a:t>
            </a:r>
            <a:r>
              <a:rPr spc="-10" dirty="0"/>
              <a:t>1:RECOMMENDED </a:t>
            </a:r>
            <a:r>
              <a:rPr dirty="0"/>
              <a:t>ALLOCATION</a:t>
            </a:r>
            <a:r>
              <a:rPr spc="-60" dirty="0"/>
              <a:t> </a:t>
            </a:r>
            <a:r>
              <a:rPr spc="-10" dirty="0"/>
              <a:t>REPORT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992" y="2145601"/>
            <a:ext cx="5565775" cy="3081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Times New Roman"/>
                <a:cs typeface="Times New Roman"/>
              </a:rPr>
              <a:t>Investment date: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April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2025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b="1" dirty="0">
                <a:latin typeface="Times New Roman"/>
                <a:cs typeface="Times New Roman"/>
              </a:rPr>
              <a:t>Total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investment: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₹20,000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allocates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funds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predicted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7-</a:t>
            </a:r>
            <a:r>
              <a:rPr sz="2000" spc="-25" dirty="0">
                <a:latin typeface="Times New Roman"/>
                <a:cs typeface="Times New Roman"/>
              </a:rPr>
              <a:t>day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returns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TCS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assigned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50%,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30%,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LT</a:t>
            </a:r>
            <a:r>
              <a:rPr sz="2000" spc="-25" dirty="0">
                <a:latin typeface="Times New Roman"/>
                <a:cs typeface="Times New Roman"/>
              </a:rPr>
              <a:t> 20%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prices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Total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₹20,259.95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Expected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profit: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₹259.95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(1.30%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ROI)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Helps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making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short-</a:t>
            </a:r>
            <a:r>
              <a:rPr sz="2000" dirty="0">
                <a:latin typeface="Times New Roman"/>
                <a:cs typeface="Times New Roman"/>
              </a:rPr>
              <a:t>term,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data-</a:t>
            </a:r>
            <a:r>
              <a:rPr sz="2000" dirty="0">
                <a:latin typeface="Times New Roman"/>
                <a:cs typeface="Times New Roman"/>
              </a:rPr>
              <a:t>driven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investment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/>
                <a:cs typeface="Times New Roman"/>
              </a:rPr>
              <a:t>decisions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500" y="2505075"/>
            <a:ext cx="5743575" cy="24860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92" y="872743"/>
            <a:ext cx="5841365" cy="11283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65"/>
              </a:spcBef>
            </a:pPr>
            <a:r>
              <a:rPr dirty="0"/>
              <a:t>OUTPUT</a:t>
            </a:r>
            <a:r>
              <a:rPr spc="-20" dirty="0"/>
              <a:t> </a:t>
            </a:r>
            <a:r>
              <a:rPr dirty="0"/>
              <a:t>2:</a:t>
            </a:r>
            <a:r>
              <a:rPr spc="-10" dirty="0"/>
              <a:t> 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DAYS</a:t>
            </a:r>
            <a:r>
              <a:rPr spc="10" dirty="0"/>
              <a:t> </a:t>
            </a:r>
            <a:r>
              <a:rPr spc="-10" dirty="0"/>
              <a:t>STOCK </a:t>
            </a:r>
            <a:r>
              <a:rPr dirty="0"/>
              <a:t>PRICE</a:t>
            </a:r>
            <a:r>
              <a:rPr spc="-55" dirty="0"/>
              <a:t> </a:t>
            </a:r>
            <a:r>
              <a:rPr spc="-10" dirty="0"/>
              <a:t>PFORECAST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992" y="2031936"/>
            <a:ext cx="6483350" cy="30473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83185" indent="-10160">
              <a:lnSpc>
                <a:spcPct val="101000"/>
              </a:lnSpc>
              <a:spcBef>
                <a:spcPts val="80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	Shows </a:t>
            </a:r>
            <a:r>
              <a:rPr sz="1800" spc="-25" dirty="0">
                <a:latin typeface="Arial MT"/>
                <a:cs typeface="Arial MT"/>
              </a:rPr>
              <a:t>7-</a:t>
            </a:r>
            <a:r>
              <a:rPr sz="1800" dirty="0">
                <a:latin typeface="Arial MT"/>
                <a:cs typeface="Arial MT"/>
              </a:rPr>
              <a:t>day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predicted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TCS,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INFY,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LT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Accuracy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consistently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above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90%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 3 </a:t>
            </a:r>
            <a:r>
              <a:rPr sz="1800" spc="-10" dirty="0">
                <a:latin typeface="Arial MT"/>
                <a:cs typeface="Arial MT"/>
              </a:rPr>
              <a:t>companies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ts val="2130"/>
              </a:lnSpc>
              <a:spcBef>
                <a:spcPts val="20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TCS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Highest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accuracy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reached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99.37%</a:t>
            </a:r>
            <a:endParaRPr sz="1800">
              <a:latin typeface="Arial"/>
              <a:cs typeface="Arial"/>
            </a:endParaRPr>
          </a:p>
          <a:p>
            <a:pPr marL="12700" marR="666750" indent="-10160">
              <a:lnSpc>
                <a:spcPts val="2180"/>
              </a:lnSpc>
              <a:spcBef>
                <a:spcPts val="25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	INFY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Accuracy up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99.49%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strong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prediction stability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ts val="2100"/>
              </a:lnSpc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b="1" dirty="0">
                <a:latin typeface="Arial"/>
                <a:cs typeface="Arial"/>
              </a:rPr>
              <a:t>LT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Slightly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variation,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still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98.77%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Predictions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skip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weekends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match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trading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days</a:t>
            </a:r>
            <a:endParaRPr sz="1800">
              <a:latin typeface="Arial MT"/>
              <a:cs typeface="Arial MT"/>
            </a:endParaRPr>
          </a:p>
          <a:p>
            <a:pPr marL="12700" marR="396875" indent="-10160">
              <a:lnSpc>
                <a:spcPts val="2100"/>
              </a:lnSpc>
              <a:spcBef>
                <a:spcPts val="135"/>
              </a:spcBef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	Validates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LSTM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short-</a:t>
            </a:r>
            <a:r>
              <a:rPr sz="1800" spc="-20" dirty="0">
                <a:latin typeface="Arial MT"/>
                <a:cs typeface="Arial MT"/>
              </a:rPr>
              <a:t>term </a:t>
            </a:r>
            <a:r>
              <a:rPr sz="1800" dirty="0">
                <a:latin typeface="Arial MT"/>
                <a:cs typeface="Arial MT"/>
              </a:rPr>
              <a:t>stock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forecasting</a:t>
            </a: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ts val="2120"/>
              </a:lnSpc>
              <a:buClr>
                <a:srgbClr val="0D0D0D"/>
              </a:buClr>
              <a:buSzPct val="94444"/>
              <a:buFont typeface="Times New Roman"/>
              <a:buChar char="•"/>
              <a:tabLst>
                <a:tab pos="91440" algn="l"/>
              </a:tabLst>
            </a:pPr>
            <a:r>
              <a:rPr sz="1800" dirty="0">
                <a:latin typeface="Arial MT"/>
                <a:cs typeface="Arial MT"/>
              </a:rPr>
              <a:t>High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accuracy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supports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reliable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decision-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investors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58050" y="542925"/>
            <a:ext cx="4838700" cy="5591175"/>
            <a:chOff x="7258050" y="542925"/>
            <a:chExt cx="4838700" cy="5591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8050" y="1066800"/>
              <a:ext cx="4200525" cy="5067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9000" y="542925"/>
              <a:ext cx="1047750" cy="103822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125" y="855281"/>
            <a:ext cx="481203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0" dirty="0">
                <a:solidFill>
                  <a:srgbClr val="548ED4"/>
                </a:solidFill>
                <a:latin typeface="Calibri"/>
                <a:cs typeface="Calibri"/>
              </a:rPr>
              <a:t>Dataset</a:t>
            </a:r>
            <a:r>
              <a:rPr sz="4800" b="0" spc="-2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4800" b="0" spc="-10" dirty="0">
                <a:solidFill>
                  <a:srgbClr val="548ED4"/>
                </a:solidFill>
                <a:latin typeface="Calibri"/>
                <a:cs typeface="Calibri"/>
              </a:rPr>
              <a:t>Acquisition</a:t>
            </a:r>
            <a:endParaRPr sz="4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7937" y="1992376"/>
            <a:ext cx="11538585" cy="4746625"/>
            <a:chOff x="-7937" y="1992376"/>
            <a:chExt cx="11538585" cy="4746625"/>
          </a:xfrm>
        </p:grpSpPr>
        <p:sp>
          <p:nvSpPr>
            <p:cNvPr id="4" name="object 4"/>
            <p:cNvSpPr/>
            <p:nvPr/>
          </p:nvSpPr>
          <p:spPr>
            <a:xfrm>
              <a:off x="4762" y="2005076"/>
              <a:ext cx="11458575" cy="781050"/>
            </a:xfrm>
            <a:custGeom>
              <a:avLst/>
              <a:gdLst/>
              <a:ahLst/>
              <a:cxnLst/>
              <a:rect l="l" t="t" r="r" b="b"/>
              <a:pathLst>
                <a:path w="11458575" h="781050">
                  <a:moveTo>
                    <a:pt x="11458575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11458575" y="781050"/>
                  </a:lnTo>
                  <a:lnTo>
                    <a:pt x="11458575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2" y="2005076"/>
              <a:ext cx="11458575" cy="781050"/>
            </a:xfrm>
            <a:custGeom>
              <a:avLst/>
              <a:gdLst/>
              <a:ahLst/>
              <a:cxnLst/>
              <a:rect l="l" t="t" r="r" b="b"/>
              <a:pathLst>
                <a:path w="11458575" h="781050">
                  <a:moveTo>
                    <a:pt x="0" y="781050"/>
                  </a:moveTo>
                  <a:lnTo>
                    <a:pt x="11458575" y="781050"/>
                  </a:lnTo>
                  <a:lnTo>
                    <a:pt x="11458575" y="0"/>
                  </a:lnTo>
                  <a:lnTo>
                    <a:pt x="0" y="0"/>
                  </a:lnTo>
                  <a:lnTo>
                    <a:pt x="0" y="781050"/>
                  </a:lnTo>
                  <a:close/>
                </a:path>
              </a:pathLst>
            </a:custGeom>
            <a:ln w="25400">
              <a:solidFill>
                <a:srgbClr val="548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71636"/>
              <a:ext cx="11530076" cy="45673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200275"/>
              <a:ext cx="11382375" cy="4267200"/>
            </a:xfrm>
            <a:custGeom>
              <a:avLst/>
              <a:gdLst/>
              <a:ahLst/>
              <a:cxnLst/>
              <a:rect l="l" t="t" r="r" b="b"/>
              <a:pathLst>
                <a:path w="11382375" h="4267200">
                  <a:moveTo>
                    <a:pt x="11382375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11382375" y="4267200"/>
                  </a:lnTo>
                  <a:lnTo>
                    <a:pt x="11382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73125" y="2487612"/>
            <a:ext cx="4220845" cy="348805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135890" indent="227965">
              <a:lnSpc>
                <a:spcPts val="2030"/>
              </a:lnSpc>
              <a:spcBef>
                <a:spcPts val="350"/>
              </a:spcBef>
              <a:buFont typeface="Arial MT"/>
              <a:buChar char="•"/>
              <a:tabLst>
                <a:tab pos="240665" algn="l"/>
              </a:tabLst>
            </a:pPr>
            <a:r>
              <a:rPr sz="1850" dirty="0">
                <a:latin typeface="Calibri"/>
                <a:cs typeface="Calibri"/>
              </a:rPr>
              <a:t>The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yfinance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API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is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especially</a:t>
            </a:r>
            <a:r>
              <a:rPr sz="1850" spc="1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useful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for </a:t>
            </a:r>
            <a:r>
              <a:rPr sz="1850" dirty="0">
                <a:latin typeface="Calibri"/>
                <a:cs typeface="Calibri"/>
              </a:rPr>
              <a:t>financial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projects</a:t>
            </a:r>
            <a:r>
              <a:rPr sz="1850" spc="9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because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it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simplifies</a:t>
            </a:r>
            <a:endParaRPr sz="1850">
              <a:latin typeface="Calibri"/>
              <a:cs typeface="Calibri"/>
            </a:endParaRPr>
          </a:p>
          <a:p>
            <a:pPr marL="12700" marR="118110" indent="227965">
              <a:lnSpc>
                <a:spcPct val="93000"/>
              </a:lnSpc>
              <a:spcBef>
                <a:spcPts val="525"/>
              </a:spcBef>
              <a:buFont typeface="Arial MT"/>
              <a:buChar char="•"/>
              <a:tabLst>
                <a:tab pos="240665" algn="l"/>
              </a:tabLst>
            </a:pPr>
            <a:r>
              <a:rPr sz="1850" dirty="0">
                <a:latin typeface="Calibri"/>
                <a:cs typeface="Calibri"/>
              </a:rPr>
              <a:t>the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process</a:t>
            </a:r>
            <a:r>
              <a:rPr sz="1850" spc="7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collecting</a:t>
            </a:r>
            <a:r>
              <a:rPr sz="1850" spc="8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clean, </a:t>
            </a:r>
            <a:r>
              <a:rPr sz="1850" dirty="0">
                <a:latin typeface="Calibri"/>
                <a:cs typeface="Calibri"/>
              </a:rPr>
              <a:t>structured,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and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reliable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stock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market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data </a:t>
            </a:r>
            <a:r>
              <a:rPr sz="1850" dirty="0">
                <a:latin typeface="Calibri"/>
                <a:cs typeface="Calibri"/>
              </a:rPr>
              <a:t>without</a:t>
            </a:r>
            <a:r>
              <a:rPr sz="1850" spc="13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needing</a:t>
            </a:r>
            <a:endParaRPr sz="1850">
              <a:latin typeface="Calibri"/>
              <a:cs typeface="Calibri"/>
            </a:endParaRPr>
          </a:p>
          <a:p>
            <a:pPr marL="12700" marR="5080" indent="282575">
              <a:lnSpc>
                <a:spcPts val="2100"/>
              </a:lnSpc>
              <a:spcBef>
                <a:spcPts val="580"/>
              </a:spcBef>
              <a:buFont typeface="Arial MT"/>
              <a:buChar char="•"/>
              <a:tabLst>
                <a:tab pos="295275" algn="l"/>
              </a:tabLst>
            </a:pPr>
            <a:r>
              <a:rPr sz="1850" dirty="0">
                <a:latin typeface="Calibri"/>
                <a:cs typeface="Calibri"/>
              </a:rPr>
              <a:t>any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API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key</a:t>
            </a:r>
            <a:r>
              <a:rPr sz="1850" spc="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or</a:t>
            </a:r>
            <a:r>
              <a:rPr sz="1850" spc="2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paid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subscription.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It </a:t>
            </a:r>
            <a:r>
              <a:rPr sz="1850" dirty="0">
                <a:latin typeface="Calibri"/>
                <a:cs typeface="Calibri"/>
              </a:rPr>
              <a:t>supports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wide</a:t>
            </a:r>
            <a:r>
              <a:rPr sz="1850" spc="9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range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of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stock</a:t>
            </a:r>
            <a:r>
              <a:rPr sz="1850" spc="2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tickers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-20" dirty="0">
                <a:latin typeface="Calibri"/>
                <a:cs typeface="Calibri"/>
              </a:rPr>
              <a:t>from</a:t>
            </a:r>
            <a:endParaRPr sz="1850">
              <a:latin typeface="Calibri"/>
              <a:cs typeface="Calibri"/>
            </a:endParaRPr>
          </a:p>
          <a:p>
            <a:pPr marL="12700" marR="78105" indent="282575">
              <a:lnSpc>
                <a:spcPct val="93100"/>
              </a:lnSpc>
              <a:spcBef>
                <a:spcPts val="515"/>
              </a:spcBef>
              <a:buFont typeface="Arial MT"/>
              <a:buChar char="•"/>
              <a:tabLst>
                <a:tab pos="295275" algn="l"/>
              </a:tabLst>
            </a:pPr>
            <a:r>
              <a:rPr sz="1850" dirty="0">
                <a:latin typeface="Calibri"/>
                <a:cs typeface="Calibri"/>
              </a:rPr>
              <a:t>global</a:t>
            </a:r>
            <a:r>
              <a:rPr sz="1850" spc="1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exchanges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and</a:t>
            </a:r>
            <a:r>
              <a:rPr sz="1850" spc="7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lets</a:t>
            </a:r>
            <a:r>
              <a:rPr sz="1850" spc="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you</a:t>
            </a:r>
            <a:r>
              <a:rPr sz="1850" spc="7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fetch</a:t>
            </a:r>
            <a:r>
              <a:rPr sz="1850" spc="65" dirty="0">
                <a:latin typeface="Calibri"/>
                <a:cs typeface="Calibri"/>
              </a:rPr>
              <a:t> </a:t>
            </a:r>
            <a:r>
              <a:rPr sz="1850" spc="-25" dirty="0">
                <a:latin typeface="Calibri"/>
                <a:cs typeface="Calibri"/>
              </a:rPr>
              <a:t>not </a:t>
            </a:r>
            <a:r>
              <a:rPr sz="1850" dirty="0">
                <a:latin typeface="Calibri"/>
                <a:cs typeface="Calibri"/>
              </a:rPr>
              <a:t>just</a:t>
            </a:r>
            <a:r>
              <a:rPr sz="1850" spc="5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historical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prices</a:t>
            </a:r>
            <a:r>
              <a:rPr sz="1850" spc="10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but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also</a:t>
            </a:r>
            <a:r>
              <a:rPr sz="1850" spc="7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in-</a:t>
            </a:r>
            <a:r>
              <a:rPr sz="1850" spc="-10" dirty="0">
                <a:latin typeface="Calibri"/>
                <a:cs typeface="Calibri"/>
              </a:rPr>
              <a:t>depth company</a:t>
            </a:r>
            <a:endParaRPr sz="1850">
              <a:latin typeface="Calibri"/>
              <a:cs typeface="Calibri"/>
            </a:endParaRPr>
          </a:p>
          <a:p>
            <a:pPr marL="12700" marR="548005" indent="282575">
              <a:lnSpc>
                <a:spcPts val="2100"/>
              </a:lnSpc>
              <a:spcBef>
                <a:spcPts val="580"/>
              </a:spcBef>
              <a:buFont typeface="Arial MT"/>
              <a:buChar char="•"/>
              <a:tabLst>
                <a:tab pos="295275" algn="l"/>
              </a:tabLst>
            </a:pPr>
            <a:r>
              <a:rPr sz="1850" dirty="0">
                <a:latin typeface="Calibri"/>
                <a:cs typeface="Calibri"/>
              </a:rPr>
              <a:t>insights</a:t>
            </a:r>
            <a:r>
              <a:rPr sz="1850" spc="3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like</a:t>
            </a:r>
            <a:r>
              <a:rPr sz="1850" spc="6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sector,</a:t>
            </a:r>
            <a:r>
              <a:rPr sz="1850" spc="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earnings</a:t>
            </a:r>
            <a:r>
              <a:rPr sz="1850" spc="35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dates, </a:t>
            </a:r>
            <a:r>
              <a:rPr sz="1850" dirty="0">
                <a:latin typeface="Calibri"/>
                <a:cs typeface="Calibri"/>
              </a:rPr>
              <a:t>dividends,</a:t>
            </a:r>
            <a:r>
              <a:rPr sz="1850" spc="7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stock</a:t>
            </a:r>
            <a:r>
              <a:rPr sz="1850" spc="70" dirty="0">
                <a:latin typeface="Calibri"/>
                <a:cs typeface="Calibri"/>
              </a:rPr>
              <a:t> </a:t>
            </a:r>
            <a:r>
              <a:rPr sz="1850" spc="-10" dirty="0">
                <a:latin typeface="Calibri"/>
                <a:cs typeface="Calibri"/>
              </a:rPr>
              <a:t>splits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5025" y="2905125"/>
            <a:ext cx="5143500" cy="287655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92" y="712088"/>
            <a:ext cx="5349875" cy="11283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65"/>
              </a:spcBef>
            </a:pPr>
            <a:r>
              <a:rPr b="0" dirty="0">
                <a:latin typeface="Times New Roman"/>
                <a:cs typeface="Times New Roman"/>
              </a:rPr>
              <a:t>Gated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Recurrent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Unit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(GRU) Architecture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7620" indent="-5715" algn="ctr">
              <a:lnSpc>
                <a:spcPct val="100000"/>
              </a:lnSpc>
              <a:spcBef>
                <a:spcPts val="125"/>
              </a:spcBef>
              <a:tabLst>
                <a:tab pos="729615" algn="l"/>
                <a:tab pos="1081405" algn="l"/>
                <a:tab pos="1306830" algn="l"/>
                <a:tab pos="1378585" algn="l"/>
                <a:tab pos="1898014" algn="l"/>
                <a:tab pos="2266315" algn="l"/>
                <a:tab pos="2320925" algn="l"/>
                <a:tab pos="2661285" algn="l"/>
                <a:tab pos="3846195" algn="l"/>
                <a:tab pos="4721225" algn="l"/>
                <a:tab pos="5794375" algn="l"/>
              </a:tabLst>
            </a:pPr>
            <a:r>
              <a:rPr spc="-25" dirty="0"/>
              <a:t>GRU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	</a:t>
            </a:r>
            <a:r>
              <a:rPr spc="-10" dirty="0"/>
              <a:t>variant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Recurrent</a:t>
            </a:r>
            <a:r>
              <a:rPr dirty="0"/>
              <a:t>	</a:t>
            </a:r>
            <a:r>
              <a:rPr spc="-10" dirty="0"/>
              <a:t>Neural</a:t>
            </a:r>
            <a:r>
              <a:rPr dirty="0"/>
              <a:t>	</a:t>
            </a:r>
            <a:r>
              <a:rPr spc="-10" dirty="0"/>
              <a:t>Network</a:t>
            </a:r>
            <a:r>
              <a:rPr dirty="0"/>
              <a:t>	</a:t>
            </a:r>
            <a:r>
              <a:rPr spc="-10" dirty="0"/>
              <a:t>(RNN) specifically</a:t>
            </a:r>
            <a:r>
              <a:rPr dirty="0"/>
              <a:t>	</a:t>
            </a:r>
            <a:r>
              <a:rPr spc="-20" dirty="0"/>
              <a:t>built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	handling</a:t>
            </a:r>
            <a:r>
              <a:rPr spc="484" dirty="0"/>
              <a:t> </a:t>
            </a:r>
            <a:r>
              <a:rPr dirty="0"/>
              <a:t>sequential</a:t>
            </a:r>
            <a:r>
              <a:rPr spc="459" dirty="0"/>
              <a:t> </a:t>
            </a:r>
            <a:r>
              <a:rPr dirty="0"/>
              <a:t>data</a:t>
            </a:r>
            <a:r>
              <a:rPr spc="459" dirty="0"/>
              <a:t> </a:t>
            </a:r>
            <a:r>
              <a:rPr dirty="0"/>
              <a:t>such</a:t>
            </a:r>
            <a:r>
              <a:rPr spc="459" dirty="0"/>
              <a:t> </a:t>
            </a:r>
            <a:r>
              <a:rPr dirty="0"/>
              <a:t>as</a:t>
            </a:r>
            <a:r>
              <a:rPr spc="475" dirty="0"/>
              <a:t> </a:t>
            </a:r>
            <a:r>
              <a:rPr spc="-10" dirty="0"/>
              <a:t>stock prices.</a:t>
            </a:r>
          </a:p>
          <a:p>
            <a:pPr marL="12700" marR="7620" indent="63500" algn="just">
              <a:lnSpc>
                <a:spcPct val="100000"/>
              </a:lnSpc>
              <a:spcBef>
                <a:spcPts val="10"/>
              </a:spcBef>
            </a:pPr>
            <a:r>
              <a:rPr dirty="0"/>
              <a:t>It</a:t>
            </a:r>
            <a:r>
              <a:rPr spc="215" dirty="0"/>
              <a:t> </a:t>
            </a:r>
            <a:r>
              <a:rPr dirty="0"/>
              <a:t>is</a:t>
            </a:r>
            <a:r>
              <a:rPr spc="254" dirty="0"/>
              <a:t> </a:t>
            </a:r>
            <a:r>
              <a:rPr dirty="0"/>
              <a:t>similar</a:t>
            </a:r>
            <a:r>
              <a:rPr spc="225" dirty="0"/>
              <a:t> </a:t>
            </a:r>
            <a:r>
              <a:rPr dirty="0"/>
              <a:t>to</a:t>
            </a:r>
            <a:r>
              <a:rPr spc="254" dirty="0"/>
              <a:t> </a:t>
            </a:r>
            <a:r>
              <a:rPr dirty="0"/>
              <a:t>LSTM</a:t>
            </a:r>
            <a:r>
              <a:rPr spc="180" dirty="0"/>
              <a:t> </a:t>
            </a:r>
            <a:r>
              <a:rPr dirty="0"/>
              <a:t>but</a:t>
            </a:r>
            <a:r>
              <a:rPr spc="204" dirty="0"/>
              <a:t> </a:t>
            </a:r>
            <a:r>
              <a:rPr dirty="0"/>
              <a:t>with</a:t>
            </a:r>
            <a:r>
              <a:rPr spc="235" dirty="0"/>
              <a:t> </a:t>
            </a:r>
            <a:r>
              <a:rPr dirty="0"/>
              <a:t>a</a:t>
            </a:r>
            <a:r>
              <a:rPr spc="229" dirty="0"/>
              <a:t> </a:t>
            </a:r>
            <a:r>
              <a:rPr dirty="0"/>
              <a:t>simpler</a:t>
            </a:r>
            <a:r>
              <a:rPr spc="229" dirty="0"/>
              <a:t> </a:t>
            </a:r>
            <a:r>
              <a:rPr dirty="0"/>
              <a:t>structure</a:t>
            </a:r>
            <a:r>
              <a:rPr spc="250" dirty="0"/>
              <a:t> </a:t>
            </a:r>
            <a:r>
              <a:rPr dirty="0"/>
              <a:t>and</a:t>
            </a:r>
            <a:r>
              <a:rPr spc="240" dirty="0"/>
              <a:t> </a:t>
            </a:r>
            <a:r>
              <a:rPr spc="-20" dirty="0"/>
              <a:t>fewer </a:t>
            </a:r>
            <a:r>
              <a:rPr dirty="0"/>
              <a:t>gates,</a:t>
            </a:r>
            <a:r>
              <a:rPr spc="335" dirty="0"/>
              <a:t> </a:t>
            </a:r>
            <a:r>
              <a:rPr dirty="0"/>
              <a:t>making</a:t>
            </a:r>
            <a:r>
              <a:rPr spc="315" dirty="0"/>
              <a:t> </a:t>
            </a:r>
            <a:r>
              <a:rPr dirty="0"/>
              <a:t>it</a:t>
            </a:r>
            <a:r>
              <a:rPr spc="370" dirty="0"/>
              <a:t> </a:t>
            </a:r>
            <a:r>
              <a:rPr dirty="0"/>
              <a:t>faster</a:t>
            </a:r>
            <a:r>
              <a:rPr spc="365" dirty="0"/>
              <a:t> </a:t>
            </a:r>
            <a:r>
              <a:rPr dirty="0"/>
              <a:t>to</a:t>
            </a:r>
            <a:r>
              <a:rPr spc="370" dirty="0"/>
              <a:t> </a:t>
            </a:r>
            <a:r>
              <a:rPr dirty="0"/>
              <a:t>train</a:t>
            </a:r>
            <a:r>
              <a:rPr spc="375" dirty="0"/>
              <a:t> </a:t>
            </a:r>
            <a:r>
              <a:rPr dirty="0"/>
              <a:t>while</a:t>
            </a:r>
            <a:r>
              <a:rPr spc="375" dirty="0"/>
              <a:t> </a:t>
            </a:r>
            <a:r>
              <a:rPr dirty="0"/>
              <a:t>still</a:t>
            </a:r>
            <a:r>
              <a:rPr spc="375" dirty="0"/>
              <a:t> </a:t>
            </a:r>
            <a:r>
              <a:rPr dirty="0"/>
              <a:t>capturing</a:t>
            </a:r>
            <a:r>
              <a:rPr spc="350" dirty="0"/>
              <a:t> </a:t>
            </a:r>
            <a:r>
              <a:rPr spc="-10" dirty="0"/>
              <a:t>essential </a:t>
            </a:r>
            <a:r>
              <a:rPr dirty="0"/>
              <a:t>temporal</a:t>
            </a:r>
            <a:r>
              <a:rPr spc="-50" dirty="0"/>
              <a:t> </a:t>
            </a:r>
            <a:r>
              <a:rPr spc="-10" dirty="0"/>
              <a:t>patterns.</a:t>
            </a:r>
          </a:p>
          <a:p>
            <a:pPr marL="12700" algn="just">
              <a:lnSpc>
                <a:spcPct val="100000"/>
              </a:lnSpc>
              <a:spcBef>
                <a:spcPts val="10"/>
              </a:spcBef>
            </a:pPr>
            <a:r>
              <a:rPr dirty="0"/>
              <a:t>Each</a:t>
            </a:r>
            <a:r>
              <a:rPr spc="-25" dirty="0"/>
              <a:t> </a:t>
            </a:r>
            <a:r>
              <a:rPr dirty="0"/>
              <a:t>GRU</a:t>
            </a:r>
            <a:r>
              <a:rPr spc="-15" dirty="0"/>
              <a:t> </a:t>
            </a:r>
            <a:r>
              <a:rPr dirty="0"/>
              <a:t>cell</a:t>
            </a:r>
            <a:r>
              <a:rPr spc="-20" dirty="0"/>
              <a:t> </a:t>
            </a:r>
            <a:r>
              <a:rPr spc="-10" dirty="0"/>
              <a:t>contains:</a:t>
            </a:r>
          </a:p>
          <a:p>
            <a:pPr marL="354330" marR="5080" indent="-342265" algn="just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55600" algn="l"/>
              </a:tabLst>
            </a:pPr>
            <a:r>
              <a:rPr b="1" dirty="0">
                <a:latin typeface="Times New Roman"/>
                <a:cs typeface="Times New Roman"/>
              </a:rPr>
              <a:t>Update</a:t>
            </a:r>
            <a:r>
              <a:rPr b="1" spc="315" dirty="0">
                <a:latin typeface="Times New Roman"/>
                <a:cs typeface="Times New Roman"/>
              </a:rPr>
              <a:t>  </a:t>
            </a:r>
            <a:r>
              <a:rPr b="1" dirty="0">
                <a:latin typeface="Times New Roman"/>
                <a:cs typeface="Times New Roman"/>
              </a:rPr>
              <a:t>Gate</a:t>
            </a:r>
            <a:r>
              <a:rPr b="1" spc="300" dirty="0">
                <a:latin typeface="Times New Roman"/>
                <a:cs typeface="Times New Roman"/>
              </a:rPr>
              <a:t>  </a:t>
            </a:r>
            <a:r>
              <a:rPr dirty="0"/>
              <a:t>–</a:t>
            </a:r>
            <a:r>
              <a:rPr spc="305" dirty="0"/>
              <a:t>  </a:t>
            </a:r>
            <a:r>
              <a:rPr dirty="0"/>
              <a:t>determines</a:t>
            </a:r>
            <a:r>
              <a:rPr spc="325" dirty="0"/>
              <a:t>  </a:t>
            </a:r>
            <a:r>
              <a:rPr dirty="0"/>
              <a:t>how</a:t>
            </a:r>
            <a:r>
              <a:rPr spc="290" dirty="0"/>
              <a:t>  </a:t>
            </a:r>
            <a:r>
              <a:rPr dirty="0"/>
              <a:t>much</a:t>
            </a:r>
            <a:r>
              <a:rPr spc="305" dirty="0"/>
              <a:t>  </a:t>
            </a:r>
            <a:r>
              <a:rPr dirty="0"/>
              <a:t>of</a:t>
            </a:r>
            <a:r>
              <a:rPr spc="315" dirty="0"/>
              <a:t>  </a:t>
            </a:r>
            <a:r>
              <a:rPr dirty="0"/>
              <a:t>the</a:t>
            </a:r>
            <a:r>
              <a:rPr spc="300" dirty="0"/>
              <a:t>  </a:t>
            </a:r>
            <a:r>
              <a:rPr spc="-20" dirty="0"/>
              <a:t>past 	</a:t>
            </a:r>
            <a:r>
              <a:rPr dirty="0"/>
              <a:t>information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carry</a:t>
            </a:r>
            <a:r>
              <a:rPr spc="-35" dirty="0"/>
              <a:t> </a:t>
            </a:r>
            <a:r>
              <a:rPr spc="-10" dirty="0"/>
              <a:t>forward.</a:t>
            </a:r>
          </a:p>
          <a:p>
            <a:pPr marL="354965" indent="-342265" algn="just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54965" algn="l"/>
              </a:tabLst>
            </a:pPr>
            <a:r>
              <a:rPr b="1" dirty="0">
                <a:latin typeface="Times New Roman"/>
                <a:cs typeface="Times New Roman"/>
              </a:rPr>
              <a:t>Reset Gate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decides</a:t>
            </a:r>
            <a:r>
              <a:rPr spc="-65" dirty="0"/>
              <a:t> </a:t>
            </a:r>
            <a:r>
              <a:rPr dirty="0"/>
              <a:t>how</a:t>
            </a:r>
            <a:r>
              <a:rPr spc="-50" dirty="0"/>
              <a:t> </a:t>
            </a:r>
            <a:r>
              <a:rPr dirty="0"/>
              <a:t>much</a:t>
            </a:r>
            <a:r>
              <a:rPr spc="-35" dirty="0"/>
              <a:t> </a:t>
            </a:r>
            <a:r>
              <a:rPr dirty="0"/>
              <a:t>past</a:t>
            </a:r>
            <a:r>
              <a:rPr spc="-6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to </a:t>
            </a:r>
            <a:r>
              <a:rPr spc="-10" dirty="0"/>
              <a:t>forget.</a:t>
            </a:r>
          </a:p>
          <a:p>
            <a:pPr marL="354330" marR="12065" indent="-342265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dirty="0"/>
              <a:t>Unlike</a:t>
            </a:r>
            <a:r>
              <a:rPr spc="315" dirty="0"/>
              <a:t> </a:t>
            </a:r>
            <a:r>
              <a:rPr dirty="0"/>
              <a:t>LSTM,</a:t>
            </a:r>
            <a:r>
              <a:rPr spc="355" dirty="0"/>
              <a:t> </a:t>
            </a:r>
            <a:r>
              <a:rPr dirty="0"/>
              <a:t>GRU</a:t>
            </a:r>
            <a:r>
              <a:rPr spc="350" dirty="0"/>
              <a:t> </a:t>
            </a:r>
            <a:r>
              <a:rPr dirty="0"/>
              <a:t>combines</a:t>
            </a:r>
            <a:r>
              <a:rPr spc="320" dirty="0"/>
              <a:t> </a:t>
            </a:r>
            <a:r>
              <a:rPr dirty="0"/>
              <a:t>the</a:t>
            </a:r>
            <a:r>
              <a:rPr spc="315" dirty="0"/>
              <a:t> </a:t>
            </a:r>
            <a:r>
              <a:rPr dirty="0"/>
              <a:t>forget</a:t>
            </a:r>
            <a:r>
              <a:rPr spc="345" dirty="0"/>
              <a:t> </a:t>
            </a:r>
            <a:r>
              <a:rPr dirty="0"/>
              <a:t>and</a:t>
            </a:r>
            <a:r>
              <a:rPr spc="350" dirty="0"/>
              <a:t> </a:t>
            </a:r>
            <a:r>
              <a:rPr dirty="0"/>
              <a:t>input</a:t>
            </a:r>
            <a:r>
              <a:rPr spc="360" dirty="0"/>
              <a:t> </a:t>
            </a:r>
            <a:r>
              <a:rPr spc="-10" dirty="0"/>
              <a:t>gates 	</a:t>
            </a:r>
            <a:r>
              <a:rPr dirty="0"/>
              <a:t>into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single</a:t>
            </a:r>
            <a:r>
              <a:rPr spc="-55" dirty="0"/>
              <a:t> </a:t>
            </a:r>
            <a:r>
              <a:rPr dirty="0"/>
              <a:t>update</a:t>
            </a:r>
            <a:r>
              <a:rPr spc="-10" dirty="0"/>
              <a:t> </a:t>
            </a:r>
            <a:r>
              <a:rPr dirty="0"/>
              <a:t>gate,</a:t>
            </a:r>
            <a:r>
              <a:rPr spc="5" dirty="0"/>
              <a:t> </a:t>
            </a:r>
            <a:r>
              <a:rPr dirty="0"/>
              <a:t>reducing</a:t>
            </a:r>
            <a:r>
              <a:rPr spc="-40" dirty="0"/>
              <a:t> </a:t>
            </a:r>
            <a:r>
              <a:rPr spc="-10" dirty="0"/>
              <a:t>complexity.</a:t>
            </a:r>
          </a:p>
          <a:p>
            <a:pPr marL="12700" marR="17145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Think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GRU as</a:t>
            </a:r>
            <a:r>
              <a:rPr spc="-3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streamlined</a:t>
            </a:r>
            <a:r>
              <a:rPr spc="-35" dirty="0"/>
              <a:t> </a:t>
            </a:r>
            <a:r>
              <a:rPr dirty="0"/>
              <a:t>memory</a:t>
            </a:r>
            <a:r>
              <a:rPr spc="15" dirty="0"/>
              <a:t> </a:t>
            </a:r>
            <a:r>
              <a:rPr dirty="0"/>
              <a:t>unit</a:t>
            </a:r>
            <a:r>
              <a:rPr spc="-1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learns</a:t>
            </a:r>
            <a:r>
              <a:rPr spc="-5" dirty="0"/>
              <a:t> </a:t>
            </a:r>
            <a:r>
              <a:rPr dirty="0"/>
              <a:t>what</a:t>
            </a:r>
            <a:r>
              <a:rPr spc="-50" dirty="0"/>
              <a:t> </a:t>
            </a:r>
            <a:r>
              <a:rPr spc="-25" dirty="0"/>
              <a:t>to </a:t>
            </a:r>
            <a:r>
              <a:rPr dirty="0"/>
              <a:t>remember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ignore</a:t>
            </a:r>
            <a:r>
              <a:rPr spc="-15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spc="-25" dirty="0"/>
              <a:t>the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7525" y="1590674"/>
            <a:ext cx="5257800" cy="525779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92" y="712088"/>
            <a:ext cx="323977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Times New Roman"/>
                <a:cs typeface="Times New Roman"/>
              </a:rPr>
              <a:t>.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GRU</a:t>
            </a:r>
            <a:r>
              <a:rPr b="0" spc="-5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582" y="1316672"/>
            <a:ext cx="6376670" cy="497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0029" algn="l"/>
              </a:tabLst>
            </a:pP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Construction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Initialize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Sequential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 </a:t>
            </a:r>
            <a:r>
              <a:rPr sz="1800" spc="-10" dirty="0">
                <a:latin typeface="Times New Roman"/>
                <a:cs typeface="Times New Roman"/>
              </a:rPr>
              <a:t>Keras.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GRU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layer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64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(return_sequences=False).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ts val="2130"/>
              </a:lnSpc>
              <a:spcBef>
                <a:spcPts val="15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Dense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layer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ReLU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activation.</a:t>
            </a:r>
            <a:endParaRPr sz="1800">
              <a:latin typeface="Times New Roman"/>
              <a:cs typeface="Times New Roman"/>
            </a:endParaRPr>
          </a:p>
          <a:p>
            <a:pPr marL="355600" marR="6985" lvl="1" indent="-342900">
              <a:lnSpc>
                <a:spcPts val="2180"/>
              </a:lnSpc>
              <a:spcBef>
                <a:spcPts val="30"/>
              </a:spcBef>
              <a:buChar char="•"/>
              <a:tabLst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Add</a:t>
            </a:r>
            <a:r>
              <a:rPr sz="1800" spc="2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final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Dense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layer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closing price.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ts val="2100"/>
              </a:lnSpc>
              <a:buChar char="•"/>
              <a:tabLst>
                <a:tab pos="354965" algn="l"/>
                <a:tab pos="1310005" algn="l"/>
                <a:tab pos="1756410" algn="l"/>
                <a:tab pos="2494915" algn="l"/>
                <a:tab pos="3157220" algn="l"/>
                <a:tab pos="5204460" algn="l"/>
                <a:tab pos="5561965" algn="l"/>
                <a:tab pos="6008370" algn="l"/>
              </a:tabLst>
            </a:pPr>
            <a:r>
              <a:rPr sz="1800" spc="-10" dirty="0">
                <a:latin typeface="Times New Roman"/>
                <a:cs typeface="Times New Roman"/>
              </a:rPr>
              <a:t>Compile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model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using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Times New Roman"/>
                <a:cs typeface="Times New Roman"/>
              </a:rPr>
              <a:t>mean_squared_error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as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-20" dirty="0">
                <a:latin typeface="Times New Roman"/>
                <a:cs typeface="Times New Roman"/>
              </a:rPr>
              <a:t>loss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imes New Roman"/>
                <a:cs typeface="Times New Roman"/>
              </a:rPr>
              <a:t>function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adam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optimizer.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Train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60-</a:t>
            </a:r>
            <a:r>
              <a:rPr sz="1800" dirty="0">
                <a:latin typeface="Times New Roman"/>
                <a:cs typeface="Times New Roman"/>
              </a:rPr>
              <a:t>day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sequences of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past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closing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prices.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AutoNum type="arabicPeriod" startAt="2"/>
              <a:tabLst>
                <a:tab pos="240029" algn="l"/>
              </a:tabLst>
            </a:pP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10" dirty="0">
                <a:latin typeface="Times New Roman"/>
                <a:cs typeface="Times New Roman"/>
              </a:rPr>
              <a:t> Prediction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Accept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investment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input.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ts val="213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Extract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historical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date.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ts val="2130"/>
              </a:lnSpc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Normalize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MinMaxScaler.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5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10" dirty="0">
                <a:latin typeface="Times New Roman"/>
                <a:cs typeface="Times New Roman"/>
              </a:rPr>
              <a:t>60-</a:t>
            </a:r>
            <a:r>
              <a:rPr sz="1800" dirty="0">
                <a:latin typeface="Times New Roman"/>
                <a:cs typeface="Times New Roman"/>
              </a:rPr>
              <a:t>day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input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window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ending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investment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date.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dirty="0">
                <a:latin typeface="Times New Roman"/>
                <a:cs typeface="Times New Roman"/>
              </a:rPr>
              <a:t>Predict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closing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price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GRU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model.</a:t>
            </a:r>
            <a:endParaRPr sz="180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20"/>
              </a:spcBef>
              <a:buChar char="•"/>
              <a:tabLst>
                <a:tab pos="354965" algn="l"/>
              </a:tabLst>
            </a:pPr>
            <a:r>
              <a:rPr sz="1800" spc="-10" dirty="0">
                <a:latin typeface="Times New Roman"/>
                <a:cs typeface="Times New Roman"/>
              </a:rPr>
              <a:t>Inverse-</a:t>
            </a:r>
            <a:r>
              <a:rPr sz="1800" dirty="0">
                <a:latin typeface="Times New Roman"/>
                <a:cs typeface="Times New Roman"/>
              </a:rPr>
              <a:t>transform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prediction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obtain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real-</a:t>
            </a:r>
            <a:r>
              <a:rPr sz="1800" dirty="0">
                <a:latin typeface="Times New Roman"/>
                <a:cs typeface="Times New Roman"/>
              </a:rPr>
              <a:t>world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price.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67500" y="542925"/>
            <a:ext cx="5514975" cy="6315075"/>
            <a:chOff x="6667500" y="542925"/>
            <a:chExt cx="5514975" cy="63150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0" y="1504949"/>
              <a:ext cx="5514975" cy="53530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9000" y="542925"/>
              <a:ext cx="1047750" cy="103822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692" y="889317"/>
            <a:ext cx="6487160" cy="4937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 startAt="3"/>
              <a:tabLst>
                <a:tab pos="253365" algn="l"/>
              </a:tabLst>
            </a:pPr>
            <a:r>
              <a:rPr sz="1850" b="1" dirty="0">
                <a:latin typeface="Times New Roman"/>
                <a:cs typeface="Times New Roman"/>
              </a:rPr>
              <a:t>Return</a:t>
            </a:r>
            <a:r>
              <a:rPr sz="1850" b="1" spc="14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Estimation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1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Get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actual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closing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price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investment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date.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3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Calculate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predicted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return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using: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1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(Predicted_Price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-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Current_Price)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/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Current_Price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×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100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35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Store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stock’s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predicted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return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comparison.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50">
              <a:latin typeface="Times New Roman"/>
              <a:cs typeface="Times New Roman"/>
            </a:endParaRPr>
          </a:p>
          <a:p>
            <a:pPr marL="253365" indent="-240665">
              <a:lnSpc>
                <a:spcPct val="100000"/>
              </a:lnSpc>
              <a:buAutoNum type="arabicPeriod" startAt="4"/>
              <a:tabLst>
                <a:tab pos="253365" algn="l"/>
              </a:tabLst>
            </a:pPr>
            <a:r>
              <a:rPr sz="1850" b="1" dirty="0">
                <a:latin typeface="Times New Roman"/>
                <a:cs typeface="Times New Roman"/>
              </a:rPr>
              <a:t>Portfolio</a:t>
            </a:r>
            <a:r>
              <a:rPr sz="1850" b="1" spc="16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Allocation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3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Rank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all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stocks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by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their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predicted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return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(descending).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35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Allocate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investment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as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follows: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1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40%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top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performer,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3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30%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second-</a:t>
            </a:r>
            <a:r>
              <a:rPr sz="1850" spc="-20" dirty="0">
                <a:latin typeface="Times New Roman"/>
                <a:cs typeface="Times New Roman"/>
              </a:rPr>
              <a:t>best,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11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20%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third,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ct val="100000"/>
              </a:lnSpc>
              <a:spcBef>
                <a:spcPts val="30"/>
              </a:spcBef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10%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fourth.</a:t>
            </a:r>
            <a:endParaRPr sz="1850">
              <a:latin typeface="Times New Roman"/>
              <a:cs typeface="Times New Roman"/>
            </a:endParaRPr>
          </a:p>
          <a:p>
            <a:pPr marL="355600" marR="5080" lvl="1" indent="-342900">
              <a:lnSpc>
                <a:spcPts val="2330"/>
              </a:lnSpc>
              <a:spcBef>
                <a:spcPts val="20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Exclude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any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stocks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negative</a:t>
            </a:r>
            <a:r>
              <a:rPr sz="1850" spc="48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predicted</a:t>
            </a:r>
            <a:r>
              <a:rPr sz="1850" spc="4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returns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(allocate </a:t>
            </a:r>
            <a:r>
              <a:rPr sz="1850" spc="-20" dirty="0">
                <a:latin typeface="Times New Roman"/>
                <a:cs typeface="Times New Roman"/>
              </a:rPr>
              <a:t>0%).</a:t>
            </a:r>
            <a:endParaRPr sz="1850">
              <a:latin typeface="Times New Roman"/>
              <a:cs typeface="Times New Roman"/>
            </a:endParaRPr>
          </a:p>
          <a:p>
            <a:pPr marL="354965" lvl="1" indent="-342265">
              <a:lnSpc>
                <a:spcPts val="2155"/>
              </a:lnSpc>
              <a:buChar char="•"/>
              <a:tabLst>
                <a:tab pos="354965" algn="l"/>
              </a:tabLst>
            </a:pPr>
            <a:r>
              <a:rPr sz="1850" dirty="0">
                <a:latin typeface="Times New Roman"/>
                <a:cs typeface="Times New Roman"/>
              </a:rPr>
              <a:t>Reallocate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any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leftover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amount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top-performing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stock.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8925" y="1695448"/>
            <a:ext cx="5553075" cy="51625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64697" y="835640"/>
            <a:ext cx="411779" cy="4482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210" y="692848"/>
            <a:ext cx="5688965" cy="32111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3365" indent="-240665">
              <a:lnSpc>
                <a:spcPct val="100000"/>
              </a:lnSpc>
              <a:spcBef>
                <a:spcPts val="125"/>
              </a:spcBef>
              <a:buFont typeface="Times New Roman"/>
              <a:buAutoNum type="arabicPeriod" startAt="5"/>
              <a:tabLst>
                <a:tab pos="253365" algn="l"/>
              </a:tabLst>
            </a:pPr>
            <a:r>
              <a:rPr sz="1850" b="1" dirty="0">
                <a:latin typeface="Times New Roman"/>
                <a:cs typeface="Times New Roman"/>
              </a:rPr>
              <a:t>Investment</a:t>
            </a:r>
            <a:r>
              <a:rPr sz="1850" b="1" spc="19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Summary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each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allocated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stock:</a:t>
            </a:r>
            <a:endParaRPr sz="1850">
              <a:latin typeface="Times New Roman"/>
              <a:cs typeface="Times New Roman"/>
            </a:endParaRPr>
          </a:p>
          <a:p>
            <a:pPr marL="355600" marR="5080" lvl="1" indent="-343535">
              <a:lnSpc>
                <a:spcPts val="2330"/>
              </a:lnSpc>
              <a:spcBef>
                <a:spcPts val="20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Calculate</a:t>
            </a:r>
            <a:r>
              <a:rPr sz="1850" spc="4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amount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invested</a:t>
            </a:r>
            <a:r>
              <a:rPr sz="1850" spc="4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number</a:t>
            </a:r>
            <a:r>
              <a:rPr sz="1850" spc="4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4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shares bought.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ts val="2155"/>
              </a:lnSpc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Estimate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future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value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using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predicted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price.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Compute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expected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profit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loss.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Summarize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portfolio: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Total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investment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amount,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Total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projected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return,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Net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gain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loss,</a:t>
            </a:r>
            <a:endParaRPr sz="1850">
              <a:latin typeface="Times New Roman"/>
              <a:cs typeface="Times New Roman"/>
            </a:endParaRPr>
          </a:p>
          <a:p>
            <a:pPr marL="355600" lvl="1" indent="-342900">
              <a:lnSpc>
                <a:spcPct val="100000"/>
              </a:lnSpc>
              <a:spcBef>
                <a:spcPts val="110"/>
              </a:spcBef>
              <a:buChar char="•"/>
              <a:tabLst>
                <a:tab pos="355600" algn="l"/>
              </a:tabLst>
            </a:pPr>
            <a:r>
              <a:rPr sz="1850" dirty="0">
                <a:latin typeface="Times New Roman"/>
                <a:cs typeface="Times New Roman"/>
              </a:rPr>
              <a:t>Return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Investment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(ROI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%).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32301" y="85725"/>
            <a:ext cx="4794250" cy="715645"/>
            <a:chOff x="3932301" y="85725"/>
            <a:chExt cx="4794250" cy="7156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76700" y="85725"/>
              <a:ext cx="4638675" cy="6953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8651" y="100063"/>
              <a:ext cx="4781550" cy="695325"/>
            </a:xfrm>
            <a:custGeom>
              <a:avLst/>
              <a:gdLst/>
              <a:ahLst/>
              <a:cxnLst/>
              <a:rect l="l" t="t" r="r" b="b"/>
              <a:pathLst>
                <a:path w="4781550" h="695325">
                  <a:moveTo>
                    <a:pt x="0" y="694956"/>
                  </a:moveTo>
                  <a:lnTo>
                    <a:pt x="4781550" y="694956"/>
                  </a:lnTo>
                  <a:lnTo>
                    <a:pt x="4781550" y="0"/>
                  </a:lnTo>
                  <a:lnTo>
                    <a:pt x="0" y="0"/>
                  </a:lnTo>
                  <a:lnTo>
                    <a:pt x="0" y="694956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24550" y="542925"/>
            <a:ext cx="6191250" cy="6305550"/>
            <a:chOff x="5924550" y="542925"/>
            <a:chExt cx="6191250" cy="63055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4550" y="1552574"/>
              <a:ext cx="6191250" cy="52958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49000" y="542925"/>
              <a:ext cx="1047750" cy="1038225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825" y="152400"/>
            <a:ext cx="1885950" cy="3905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53725" y="190500"/>
            <a:ext cx="1295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7940" y="-14986"/>
            <a:ext cx="433197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BACKEND</a:t>
            </a:r>
            <a:r>
              <a:rPr spc="-55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7725"/>
            <a:ext cx="12191999" cy="58578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997" y="280288"/>
            <a:ext cx="338962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Frontend</a:t>
            </a:r>
            <a:r>
              <a:rPr spc="-30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" y="866775"/>
            <a:ext cx="10658475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1066800"/>
            <a:ext cx="1044892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238250"/>
            <a:ext cx="9763125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5" y="847725"/>
            <a:ext cx="5505450" cy="2686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3111" y="847725"/>
            <a:ext cx="5326888" cy="38576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275" y="3676650"/>
            <a:ext cx="4314825" cy="3038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425" y="1590675"/>
            <a:ext cx="7686675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1323975"/>
            <a:ext cx="9848850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133475"/>
            <a:ext cx="10334625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>
                <a:solidFill>
                  <a:srgbClr val="000000"/>
                </a:solidFill>
              </a:rPr>
              <a:t>Thank</a:t>
            </a:r>
            <a:r>
              <a:rPr sz="6000" spc="-350" dirty="0">
                <a:solidFill>
                  <a:srgbClr val="000000"/>
                </a:solidFill>
              </a:rPr>
              <a:t> </a:t>
            </a:r>
            <a:r>
              <a:rPr sz="6000" spc="-45" dirty="0">
                <a:solidFill>
                  <a:srgbClr val="000000"/>
                </a:solidFill>
              </a:rPr>
              <a:t>You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4810124"/>
            <a:ext cx="12144375" cy="20478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6872" y="1835765"/>
            <a:ext cx="411779" cy="448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05859" y="4323397"/>
            <a:ext cx="5213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https://github.com/DankEnigmo/expensxchange_AI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1728</Words>
  <Application>Microsoft Macintosh PowerPoint</Application>
  <PresentationFormat>Widescreen</PresentationFormat>
  <Paragraphs>164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MT</vt:lpstr>
      <vt:lpstr>Calibri</vt:lpstr>
      <vt:lpstr>Times New Roman</vt:lpstr>
      <vt:lpstr>Office Theme</vt:lpstr>
      <vt:lpstr>EXPENSEXCHANGE AI</vt:lpstr>
      <vt:lpstr>Content</vt:lpstr>
      <vt:lpstr>Abstract</vt:lpstr>
      <vt:lpstr>Introduction</vt:lpstr>
      <vt:lpstr>Problem Statement</vt:lpstr>
      <vt:lpstr>Objectives</vt:lpstr>
      <vt:lpstr>Methodology</vt:lpstr>
      <vt:lpstr>Model Architecture</vt:lpstr>
      <vt:lpstr>System Architecture Model</vt:lpstr>
      <vt:lpstr>Data Flow Diagram</vt:lpstr>
      <vt:lpstr>LSTM IN STOCK MARKET PREDICTION</vt:lpstr>
      <vt:lpstr>ALGORITHM FOR LSTM MODEL</vt:lpstr>
      <vt:lpstr>ALGORITHM FOR LSTM MODEL (CONTD..)</vt:lpstr>
      <vt:lpstr>OUTPUT 1:RECOMMENDED ALLOCATION REPORT</vt:lpstr>
      <vt:lpstr>OUTPUT 2: 7 DAYS STOCK PRICE PFORECAST</vt:lpstr>
      <vt:lpstr>Dataset Acquisition</vt:lpstr>
      <vt:lpstr>Gated Recurrent Unit (GRU) Architecture</vt:lpstr>
      <vt:lpstr>. GRU Algorithm</vt:lpstr>
      <vt:lpstr>PowerPoint Presentation</vt:lpstr>
      <vt:lpstr>PowerPoint Presentation</vt:lpstr>
      <vt:lpstr>BACKEND OUTPUT</vt:lpstr>
      <vt:lpstr>Frontend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Yadav</cp:lastModifiedBy>
  <cp:revision>1</cp:revision>
  <dcterms:created xsi:type="dcterms:W3CDTF">2026-03-14T19:36:27Z</dcterms:created>
  <dcterms:modified xsi:type="dcterms:W3CDTF">2026-03-14T19:37:57Z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2025-07-31T00:00:00Z</vt:filetime>
  </property>
  <property fmtid="{D5CDD505-2E9C-101B-9397-08002B2CF9AE}" pid="3" name="LastSaved">
    <vt:filetime>2026-03-14T00:00:00Z</vt:filetime>
  </property>
</Properties>
</file>